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2"/>
  </p:notesMasterIdLst>
  <p:sldIdLst>
    <p:sldId id="256" r:id="rId2"/>
    <p:sldId id="714" r:id="rId3"/>
    <p:sldId id="715" r:id="rId4"/>
    <p:sldId id="717" r:id="rId5"/>
    <p:sldId id="716" r:id="rId6"/>
    <p:sldId id="713" r:id="rId7"/>
    <p:sldId id="718" r:id="rId8"/>
    <p:sldId id="719" r:id="rId9"/>
    <p:sldId id="720" r:id="rId10"/>
    <p:sldId id="721" r:id="rId11"/>
    <p:sldId id="722" r:id="rId12"/>
    <p:sldId id="723" r:id="rId13"/>
    <p:sldId id="724" r:id="rId14"/>
    <p:sldId id="725" r:id="rId15"/>
    <p:sldId id="726" r:id="rId16"/>
    <p:sldId id="727" r:id="rId17"/>
    <p:sldId id="728" r:id="rId18"/>
    <p:sldId id="729" r:id="rId19"/>
    <p:sldId id="730" r:id="rId20"/>
    <p:sldId id="30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rishna Sharma" initials="KS" lastIdx="1" clrIdx="0">
    <p:extLst>
      <p:ext uri="{19B8F6BF-5375-455C-9EA6-DF929625EA0E}">
        <p15:presenceInfo xmlns:p15="http://schemas.microsoft.com/office/powerpoint/2012/main" userId="9ccdcd9597e77c2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9999"/>
    <a:srgbClr val="161A3E"/>
    <a:srgbClr val="8FAADC"/>
    <a:srgbClr val="000D32"/>
    <a:srgbClr val="333F50"/>
    <a:srgbClr val="8497B0"/>
    <a:srgbClr val="2F5597"/>
    <a:srgbClr val="626CC7"/>
    <a:srgbClr val="323B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80" d="100"/>
          <a:sy n="80" d="100"/>
        </p:scale>
        <p:origin x="677" y="53"/>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23-08-2025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9</a:t>
            </a:fld>
            <a:endParaRPr lang="en-IN" dirty="0"/>
          </a:p>
        </p:txBody>
      </p:sp>
    </p:spTree>
    <p:extLst>
      <p:ext uri="{BB962C8B-B14F-4D97-AF65-F5344CB8AC3E}">
        <p14:creationId xmlns:p14="http://schemas.microsoft.com/office/powerpoint/2010/main" val="811689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11</a:t>
            </a:fld>
            <a:endParaRPr lang="en-IN" dirty="0"/>
          </a:p>
        </p:txBody>
      </p:sp>
    </p:spTree>
    <p:extLst>
      <p:ext uri="{BB962C8B-B14F-4D97-AF65-F5344CB8AC3E}">
        <p14:creationId xmlns:p14="http://schemas.microsoft.com/office/powerpoint/2010/main" val="15484099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5.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FRAUD DETECTION</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D32"/>
        </a:solidFill>
        <a:effectLst/>
      </p:bgPr>
    </p:bg>
    <p:spTree>
      <p:nvGrpSpPr>
        <p:cNvPr id="1" name=""/>
        <p:cNvGrpSpPr/>
        <p:nvPr/>
      </p:nvGrpSpPr>
      <p:grpSpPr>
        <a:xfrm>
          <a:off x="0" y="0"/>
          <a:ext cx="0" cy="0"/>
          <a:chOff x="0" y="0"/>
          <a:chExt cx="0" cy="0"/>
        </a:xfrm>
      </p:grpSpPr>
      <p:pic>
        <p:nvPicPr>
          <p:cNvPr id="1028" name="Picture 4" descr="Los conceptos clave del mundo de la ciberseguridad: esto es todo ...">
            <a:extLst>
              <a:ext uri="{FF2B5EF4-FFF2-40B4-BE49-F238E27FC236}">
                <a16:creationId xmlns:a16="http://schemas.microsoft.com/office/drawing/2014/main" id="{69698D83-7604-4B2B-94DD-A3FF9427D0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625" y="219075"/>
            <a:ext cx="9144000" cy="37909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2618F61-F011-43C3-A83C-ECC1C911D4E9}"/>
              </a:ext>
            </a:extLst>
          </p:cNvPr>
          <p:cNvSpPr txBox="1"/>
          <p:nvPr/>
        </p:nvSpPr>
        <p:spPr>
          <a:xfrm>
            <a:off x="536713" y="4114800"/>
            <a:ext cx="8488017" cy="1754326"/>
          </a:xfrm>
          <a:prstGeom prst="rect">
            <a:avLst/>
          </a:prstGeom>
          <a:noFill/>
        </p:spPr>
        <p:txBody>
          <a:bodyPr wrap="square" rtlCol="0">
            <a:spAutoFit/>
          </a:bodyPr>
          <a:lstStyle/>
          <a:p>
            <a:r>
              <a:rPr lang="en-GB" sz="4000" dirty="0">
                <a:solidFill>
                  <a:schemeClr val="bg1"/>
                </a:solidFill>
              </a:rPr>
              <a:t>PROJECT : </a:t>
            </a:r>
            <a:r>
              <a:rPr lang="en-GB" sz="4000" dirty="0">
                <a:solidFill>
                  <a:srgbClr val="FF0000"/>
                </a:solidFill>
              </a:rPr>
              <a:t>FRAUD</a:t>
            </a:r>
            <a:r>
              <a:rPr lang="en-GB" sz="4000" dirty="0">
                <a:solidFill>
                  <a:schemeClr val="bg1"/>
                </a:solidFill>
              </a:rPr>
              <a:t> </a:t>
            </a:r>
            <a:r>
              <a:rPr lang="en-GB" sz="4000" dirty="0">
                <a:solidFill>
                  <a:schemeClr val="tx1">
                    <a:lumMod val="25000"/>
                    <a:lumOff val="75000"/>
                  </a:schemeClr>
                </a:solidFill>
              </a:rPr>
              <a:t>DETECTION</a:t>
            </a:r>
            <a:r>
              <a:rPr lang="en-GB" sz="4000" dirty="0">
                <a:solidFill>
                  <a:schemeClr val="bg1"/>
                </a:solidFill>
              </a:rPr>
              <a:t> </a:t>
            </a:r>
          </a:p>
          <a:p>
            <a:endParaRPr lang="en-GB" sz="2000" dirty="0">
              <a:solidFill>
                <a:schemeClr val="bg1"/>
              </a:solidFill>
            </a:endParaRPr>
          </a:p>
          <a:p>
            <a:endParaRPr lang="en-GB" sz="2000" dirty="0">
              <a:solidFill>
                <a:schemeClr val="bg1"/>
              </a:solidFill>
            </a:endParaRPr>
          </a:p>
          <a:p>
            <a:r>
              <a:rPr lang="en-GB" sz="2800" b="1" dirty="0">
                <a:solidFill>
                  <a:schemeClr val="bg1"/>
                </a:solidFill>
              </a:rPr>
              <a:t>Presented By: Krishna Sharma</a:t>
            </a:r>
            <a:endParaRPr lang="en-IN" sz="2800" b="1" dirty="0">
              <a:solidFill>
                <a:schemeClr val="bg1"/>
              </a:solidFill>
            </a:endParaRP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F5093-4119-4B79-93E6-F32A9207DB2D}"/>
              </a:ext>
            </a:extLst>
          </p:cNvPr>
          <p:cNvSpPr>
            <a:spLocks noGrp="1"/>
          </p:cNvSpPr>
          <p:nvPr>
            <p:ph type="title"/>
          </p:nvPr>
        </p:nvSpPr>
        <p:spPr>
          <a:xfrm>
            <a:off x="490040" y="0"/>
            <a:ext cx="10834234" cy="612775"/>
          </a:xfrm>
        </p:spPr>
        <p:txBody>
          <a:bodyPr/>
          <a:lstStyle/>
          <a:p>
            <a:pPr algn="ctr"/>
            <a:r>
              <a:rPr lang="en-GB" u="sng" dirty="0"/>
              <a:t>FRAUD TRENDS IN INDIA</a:t>
            </a:r>
            <a:endParaRPr lang="en-IN" u="sng" dirty="0"/>
          </a:p>
        </p:txBody>
      </p:sp>
      <p:pic>
        <p:nvPicPr>
          <p:cNvPr id="2050" name="Picture 2" descr="India sees 101% growth in fraud volume in first five months of 2024">
            <a:extLst>
              <a:ext uri="{FF2B5EF4-FFF2-40B4-BE49-F238E27FC236}">
                <a16:creationId xmlns:a16="http://schemas.microsoft.com/office/drawing/2014/main" id="{313C645E-E29F-49CB-BCBD-39E869DA5C7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513" y="612775"/>
            <a:ext cx="6094517" cy="32607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A69D220F-6EE6-4169-A043-C28CA6B3218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6178149" y="612775"/>
            <a:ext cx="5934338" cy="32607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F5F27CF-2760-4296-93F7-23537608A845}"/>
              </a:ext>
            </a:extLst>
          </p:cNvPr>
          <p:cNvSpPr txBox="1"/>
          <p:nvPr/>
        </p:nvSpPr>
        <p:spPr>
          <a:xfrm>
            <a:off x="141879" y="4049494"/>
            <a:ext cx="11734800" cy="2000548"/>
          </a:xfrm>
          <a:prstGeom prst="rect">
            <a:avLst/>
          </a:prstGeom>
          <a:noFill/>
        </p:spPr>
        <p:txBody>
          <a:bodyPr wrap="square" rtlCol="0">
            <a:spAutoFit/>
          </a:bodyPr>
          <a:lstStyle/>
          <a:p>
            <a:r>
              <a:rPr lang="en-GB" sz="2400" b="1" dirty="0"/>
              <a:t>🏦 RBI Annual Report 2025: Digital Fraud Insights</a:t>
            </a:r>
          </a:p>
          <a:p>
            <a:pPr marL="342900" indent="-342900">
              <a:buFont typeface="Arial" panose="020B0604020202020204" pitchFamily="34" charset="0"/>
              <a:buChar char="•"/>
            </a:pPr>
            <a:r>
              <a:rPr lang="en-GB" sz="2000" dirty="0"/>
              <a:t>Fraud Case Counts Dropped by </a:t>
            </a:r>
            <a:r>
              <a:rPr lang="en-GB" sz="2000" b="1" dirty="0"/>
              <a:t>33% </a:t>
            </a:r>
            <a:r>
              <a:rPr lang="en-GB" sz="2000" dirty="0"/>
              <a:t>but fraud value surged to </a:t>
            </a:r>
            <a:r>
              <a:rPr lang="en-IN" sz="2000" dirty="0"/>
              <a:t>₹36000 Crore nearly </a:t>
            </a:r>
            <a:r>
              <a:rPr lang="en-IN" sz="2000" b="1" dirty="0"/>
              <a:t>3x</a:t>
            </a:r>
            <a:r>
              <a:rPr lang="en-IN" sz="2000" dirty="0"/>
              <a:t> higher than Previous year.</a:t>
            </a:r>
            <a:endParaRPr lang="en-GB" sz="2000" b="1" dirty="0"/>
          </a:p>
          <a:p>
            <a:pPr marL="342900" indent="-342900">
              <a:buFont typeface="Arial" panose="020B0604020202020204" pitchFamily="34" charset="0"/>
              <a:buChar char="•"/>
            </a:pPr>
            <a:r>
              <a:rPr lang="en-GB" sz="2000" dirty="0"/>
              <a:t>D</a:t>
            </a:r>
            <a:r>
              <a:rPr lang="en-IN" sz="2000" dirty="0" err="1"/>
              <a:t>igital</a:t>
            </a:r>
            <a:r>
              <a:rPr lang="en-IN" sz="2000" dirty="0"/>
              <a:t> payments grew by </a:t>
            </a:r>
            <a:r>
              <a:rPr lang="en-IN" sz="2000" b="1" dirty="0"/>
              <a:t>34.8% </a:t>
            </a:r>
            <a:r>
              <a:rPr lang="en-IN" sz="2000" dirty="0"/>
              <a:t>in volume and </a:t>
            </a:r>
            <a:r>
              <a:rPr lang="en-IN" sz="2000" b="1" dirty="0"/>
              <a:t>17.9%</a:t>
            </a:r>
            <a:r>
              <a:rPr lang="en-IN" sz="2000" dirty="0"/>
              <a:t> in value</a:t>
            </a:r>
            <a:r>
              <a:rPr lang="en-IN" sz="2000" b="1" dirty="0"/>
              <a:t>.</a:t>
            </a:r>
            <a:endParaRPr lang="en-GB" sz="2000" b="1" dirty="0"/>
          </a:p>
          <a:p>
            <a:pPr marL="342900" indent="-342900">
              <a:buFont typeface="Arial" panose="020B0604020202020204" pitchFamily="34" charset="0"/>
              <a:buChar char="•"/>
            </a:pPr>
            <a:r>
              <a:rPr lang="en-GB" sz="2000" dirty="0"/>
              <a:t>U</a:t>
            </a:r>
            <a:r>
              <a:rPr lang="en-IN" sz="2000" dirty="0"/>
              <a:t>PI alone accounted for </a:t>
            </a:r>
            <a:r>
              <a:rPr lang="en-IN" sz="2000" b="1" dirty="0"/>
              <a:t>48.5% </a:t>
            </a:r>
            <a:r>
              <a:rPr lang="en-IN" sz="2000" dirty="0"/>
              <a:t>of global real time payments.</a:t>
            </a:r>
            <a:endParaRPr lang="en-GB" sz="2000" dirty="0"/>
          </a:p>
          <a:p>
            <a:pPr marL="342900" indent="-342900">
              <a:buFont typeface="Arial" panose="020B0604020202020204" pitchFamily="34" charset="0"/>
              <a:buChar char="•"/>
            </a:pPr>
            <a:r>
              <a:rPr lang="en-GB" sz="2000" b="1" dirty="0"/>
              <a:t>9</a:t>
            </a:r>
            <a:r>
              <a:rPr lang="en-IN" sz="2000" b="1" dirty="0"/>
              <a:t>0% </a:t>
            </a:r>
            <a:r>
              <a:rPr lang="en-IN" sz="2000" dirty="0"/>
              <a:t>of Fraud value reported  in FY25 was linked to incidents from previous years.</a:t>
            </a:r>
            <a:endParaRPr lang="en-GB" sz="2400" dirty="0"/>
          </a:p>
        </p:txBody>
      </p:sp>
    </p:spTree>
    <p:extLst>
      <p:ext uri="{BB962C8B-B14F-4D97-AF65-F5344CB8AC3E}">
        <p14:creationId xmlns:p14="http://schemas.microsoft.com/office/powerpoint/2010/main" val="87005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BDF74-EEB2-4DA9-9DC4-8DE712293BBB}"/>
              </a:ext>
            </a:extLst>
          </p:cNvPr>
          <p:cNvSpPr>
            <a:spLocks noGrp="1"/>
          </p:cNvSpPr>
          <p:nvPr>
            <p:ph type="title"/>
          </p:nvPr>
        </p:nvSpPr>
        <p:spPr>
          <a:xfrm>
            <a:off x="307409" y="172084"/>
            <a:ext cx="10834234" cy="612775"/>
          </a:xfrm>
        </p:spPr>
        <p:txBody>
          <a:bodyPr>
            <a:normAutofit/>
          </a:bodyPr>
          <a:lstStyle/>
          <a:p>
            <a:r>
              <a:rPr lang="en-GB" sz="3600" dirty="0"/>
              <a:t>AGENDA</a:t>
            </a:r>
            <a:endParaRPr lang="en-IN" sz="3600" dirty="0"/>
          </a:p>
        </p:txBody>
      </p:sp>
      <p:sp>
        <p:nvSpPr>
          <p:cNvPr id="4" name="Rectangle: Rounded Corners 3">
            <a:extLst>
              <a:ext uri="{FF2B5EF4-FFF2-40B4-BE49-F238E27FC236}">
                <a16:creationId xmlns:a16="http://schemas.microsoft.com/office/drawing/2014/main" id="{553DFE2A-FDBE-4642-8DF3-031A00CF5054}"/>
              </a:ext>
            </a:extLst>
          </p:cNvPr>
          <p:cNvSpPr/>
          <p:nvPr/>
        </p:nvSpPr>
        <p:spPr>
          <a:xfrm>
            <a:off x="307409" y="962025"/>
            <a:ext cx="2873941" cy="14573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Introduction </a:t>
            </a:r>
          </a:p>
          <a:p>
            <a:pPr algn="ctr"/>
            <a:r>
              <a:rPr lang="en-IN" sz="2000" b="1" dirty="0"/>
              <a:t>&amp; </a:t>
            </a:r>
          </a:p>
          <a:p>
            <a:pPr algn="ctr"/>
            <a:r>
              <a:rPr lang="en-IN" sz="2000" b="1" dirty="0"/>
              <a:t>Problem Statement</a:t>
            </a:r>
          </a:p>
        </p:txBody>
      </p:sp>
      <p:pic>
        <p:nvPicPr>
          <p:cNvPr id="5" name="Picture 4">
            <a:extLst>
              <a:ext uri="{FF2B5EF4-FFF2-40B4-BE49-F238E27FC236}">
                <a16:creationId xmlns:a16="http://schemas.microsoft.com/office/drawing/2014/main" id="{A39DAE2B-1115-4A39-8934-B93DA7AE6421}"/>
              </a:ext>
            </a:extLst>
          </p:cNvPr>
          <p:cNvPicPr>
            <a:picLocks noChangeAspect="1"/>
          </p:cNvPicPr>
          <p:nvPr/>
        </p:nvPicPr>
        <p:blipFill>
          <a:blip r:embed="rId2"/>
          <a:stretch>
            <a:fillRect/>
          </a:stretch>
        </p:blipFill>
        <p:spPr>
          <a:xfrm>
            <a:off x="4279649" y="958405"/>
            <a:ext cx="2889754" cy="1469263"/>
          </a:xfrm>
          <a:prstGeom prst="rect">
            <a:avLst/>
          </a:prstGeom>
        </p:spPr>
      </p:pic>
      <p:pic>
        <p:nvPicPr>
          <p:cNvPr id="6" name="Picture 5">
            <a:extLst>
              <a:ext uri="{FF2B5EF4-FFF2-40B4-BE49-F238E27FC236}">
                <a16:creationId xmlns:a16="http://schemas.microsoft.com/office/drawing/2014/main" id="{F8A61FC0-A057-4377-B34D-5743B0F8A110}"/>
              </a:ext>
            </a:extLst>
          </p:cNvPr>
          <p:cNvPicPr>
            <a:picLocks noChangeAspect="1"/>
          </p:cNvPicPr>
          <p:nvPr/>
        </p:nvPicPr>
        <p:blipFill>
          <a:blip r:embed="rId2"/>
          <a:stretch>
            <a:fillRect/>
          </a:stretch>
        </p:blipFill>
        <p:spPr>
          <a:xfrm>
            <a:off x="8618988" y="912755"/>
            <a:ext cx="2979539" cy="1514913"/>
          </a:xfrm>
          <a:prstGeom prst="rect">
            <a:avLst/>
          </a:prstGeom>
        </p:spPr>
      </p:pic>
      <p:pic>
        <p:nvPicPr>
          <p:cNvPr id="7" name="Picture 6">
            <a:extLst>
              <a:ext uri="{FF2B5EF4-FFF2-40B4-BE49-F238E27FC236}">
                <a16:creationId xmlns:a16="http://schemas.microsoft.com/office/drawing/2014/main" id="{799617A7-A6CB-453C-BBCE-8010B39EC5BD}"/>
              </a:ext>
            </a:extLst>
          </p:cNvPr>
          <p:cNvPicPr>
            <a:picLocks noChangeAspect="1"/>
          </p:cNvPicPr>
          <p:nvPr/>
        </p:nvPicPr>
        <p:blipFill>
          <a:blip r:embed="rId2"/>
          <a:stretch>
            <a:fillRect/>
          </a:stretch>
        </p:blipFill>
        <p:spPr>
          <a:xfrm>
            <a:off x="307409" y="3032254"/>
            <a:ext cx="2889754" cy="1469263"/>
          </a:xfrm>
          <a:prstGeom prst="rect">
            <a:avLst/>
          </a:prstGeom>
        </p:spPr>
      </p:pic>
      <p:pic>
        <p:nvPicPr>
          <p:cNvPr id="8" name="Picture 7">
            <a:extLst>
              <a:ext uri="{FF2B5EF4-FFF2-40B4-BE49-F238E27FC236}">
                <a16:creationId xmlns:a16="http://schemas.microsoft.com/office/drawing/2014/main" id="{357BB491-F598-4070-AEE8-DE96B1E9666D}"/>
              </a:ext>
            </a:extLst>
          </p:cNvPr>
          <p:cNvPicPr>
            <a:picLocks noChangeAspect="1"/>
          </p:cNvPicPr>
          <p:nvPr/>
        </p:nvPicPr>
        <p:blipFill>
          <a:blip r:embed="rId2"/>
          <a:stretch>
            <a:fillRect/>
          </a:stretch>
        </p:blipFill>
        <p:spPr>
          <a:xfrm>
            <a:off x="4251450" y="3065841"/>
            <a:ext cx="2889754" cy="1469263"/>
          </a:xfrm>
          <a:prstGeom prst="rect">
            <a:avLst/>
          </a:prstGeom>
        </p:spPr>
      </p:pic>
      <p:pic>
        <p:nvPicPr>
          <p:cNvPr id="9" name="Picture 8">
            <a:extLst>
              <a:ext uri="{FF2B5EF4-FFF2-40B4-BE49-F238E27FC236}">
                <a16:creationId xmlns:a16="http://schemas.microsoft.com/office/drawing/2014/main" id="{2A778C70-B2EE-4055-95FC-46BEDD1661F6}"/>
              </a:ext>
            </a:extLst>
          </p:cNvPr>
          <p:cNvPicPr>
            <a:picLocks noChangeAspect="1"/>
          </p:cNvPicPr>
          <p:nvPr/>
        </p:nvPicPr>
        <p:blipFill>
          <a:blip r:embed="rId2"/>
          <a:stretch>
            <a:fillRect/>
          </a:stretch>
        </p:blipFill>
        <p:spPr>
          <a:xfrm>
            <a:off x="8708773" y="3065841"/>
            <a:ext cx="2889754" cy="1469263"/>
          </a:xfrm>
          <a:prstGeom prst="rect">
            <a:avLst/>
          </a:prstGeom>
        </p:spPr>
      </p:pic>
      <p:pic>
        <p:nvPicPr>
          <p:cNvPr id="10" name="Picture 9">
            <a:extLst>
              <a:ext uri="{FF2B5EF4-FFF2-40B4-BE49-F238E27FC236}">
                <a16:creationId xmlns:a16="http://schemas.microsoft.com/office/drawing/2014/main" id="{FE9A1BBC-C033-4D8F-ACAB-93C8B2E3B71B}"/>
              </a:ext>
            </a:extLst>
          </p:cNvPr>
          <p:cNvPicPr>
            <a:picLocks noChangeAspect="1"/>
          </p:cNvPicPr>
          <p:nvPr/>
        </p:nvPicPr>
        <p:blipFill>
          <a:blip r:embed="rId2"/>
          <a:stretch>
            <a:fillRect/>
          </a:stretch>
        </p:blipFill>
        <p:spPr>
          <a:xfrm>
            <a:off x="4279649" y="5164963"/>
            <a:ext cx="2889754" cy="1469263"/>
          </a:xfrm>
          <a:prstGeom prst="rect">
            <a:avLst/>
          </a:prstGeom>
        </p:spPr>
      </p:pic>
      <p:cxnSp>
        <p:nvCxnSpPr>
          <p:cNvPr id="12" name="Straight Arrow Connector 11">
            <a:extLst>
              <a:ext uri="{FF2B5EF4-FFF2-40B4-BE49-F238E27FC236}">
                <a16:creationId xmlns:a16="http://schemas.microsoft.com/office/drawing/2014/main" id="{2448ADE5-E160-41E9-8646-B9A3DCA3B499}"/>
              </a:ext>
            </a:extLst>
          </p:cNvPr>
          <p:cNvCxnSpPr>
            <a:cxnSpLocks/>
          </p:cNvCxnSpPr>
          <p:nvPr/>
        </p:nvCxnSpPr>
        <p:spPr>
          <a:xfrm>
            <a:off x="3267075" y="1688337"/>
            <a:ext cx="926849" cy="23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6B0628D-B4E5-48BD-8FDC-D066AF49BCC5}"/>
              </a:ext>
            </a:extLst>
          </p:cNvPr>
          <p:cNvCxnSpPr>
            <a:cxnSpLocks/>
          </p:cNvCxnSpPr>
          <p:nvPr/>
        </p:nvCxnSpPr>
        <p:spPr>
          <a:xfrm>
            <a:off x="9934575" y="2427668"/>
            <a:ext cx="0" cy="3536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661C18E-87D4-401C-9F75-C954EBC58BAB}"/>
              </a:ext>
            </a:extLst>
          </p:cNvPr>
          <p:cNvCxnSpPr>
            <a:cxnSpLocks/>
          </p:cNvCxnSpPr>
          <p:nvPr/>
        </p:nvCxnSpPr>
        <p:spPr>
          <a:xfrm>
            <a:off x="1781175" y="2781300"/>
            <a:ext cx="8153400" cy="0"/>
          </a:xfrm>
          <a:prstGeom prst="line">
            <a:avLst/>
          </a:prstGeom>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BAA67578-62E0-4BD0-8860-9A1E229FD362}"/>
              </a:ext>
            </a:extLst>
          </p:cNvPr>
          <p:cNvPicPr>
            <a:picLocks noChangeAspect="1"/>
          </p:cNvPicPr>
          <p:nvPr/>
        </p:nvPicPr>
        <p:blipFill>
          <a:blip r:embed="rId3"/>
          <a:stretch>
            <a:fillRect/>
          </a:stretch>
        </p:blipFill>
        <p:spPr>
          <a:xfrm>
            <a:off x="7358770" y="1604376"/>
            <a:ext cx="1260218" cy="271094"/>
          </a:xfrm>
          <a:prstGeom prst="rect">
            <a:avLst/>
          </a:prstGeom>
        </p:spPr>
      </p:pic>
      <p:cxnSp>
        <p:nvCxnSpPr>
          <p:cNvPr id="25" name="Straight Connector 24">
            <a:extLst>
              <a:ext uri="{FF2B5EF4-FFF2-40B4-BE49-F238E27FC236}">
                <a16:creationId xmlns:a16="http://schemas.microsoft.com/office/drawing/2014/main" id="{B103ED57-9EE1-4C14-97CA-4439FD7339D3}"/>
              </a:ext>
            </a:extLst>
          </p:cNvPr>
          <p:cNvCxnSpPr>
            <a:cxnSpLocks/>
          </p:cNvCxnSpPr>
          <p:nvPr/>
        </p:nvCxnSpPr>
        <p:spPr>
          <a:xfrm>
            <a:off x="1792004" y="2781300"/>
            <a:ext cx="0" cy="284541"/>
          </a:xfrm>
          <a:prstGeom prst="line">
            <a:avLst/>
          </a:prstGeom>
          <a:ln w="38100">
            <a:solidFill>
              <a:srgbClr val="161A3E"/>
            </a:solidFill>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6A0274E3-67E3-49E1-A071-BC9FEFF89482}"/>
              </a:ext>
            </a:extLst>
          </p:cNvPr>
          <p:cNvPicPr>
            <a:picLocks noChangeAspect="1"/>
          </p:cNvPicPr>
          <p:nvPr/>
        </p:nvPicPr>
        <p:blipFill>
          <a:blip r:embed="rId3"/>
          <a:stretch>
            <a:fillRect/>
          </a:stretch>
        </p:blipFill>
        <p:spPr>
          <a:xfrm>
            <a:off x="3295650" y="3647855"/>
            <a:ext cx="1048603" cy="225572"/>
          </a:xfrm>
          <a:prstGeom prst="rect">
            <a:avLst/>
          </a:prstGeom>
        </p:spPr>
      </p:pic>
      <p:pic>
        <p:nvPicPr>
          <p:cNvPr id="29" name="Picture 28">
            <a:extLst>
              <a:ext uri="{FF2B5EF4-FFF2-40B4-BE49-F238E27FC236}">
                <a16:creationId xmlns:a16="http://schemas.microsoft.com/office/drawing/2014/main" id="{CD55F405-53B2-45AA-AD35-7E3D95D61BDF}"/>
              </a:ext>
            </a:extLst>
          </p:cNvPr>
          <p:cNvPicPr>
            <a:picLocks noChangeAspect="1"/>
          </p:cNvPicPr>
          <p:nvPr/>
        </p:nvPicPr>
        <p:blipFill>
          <a:blip r:embed="rId3"/>
          <a:stretch>
            <a:fillRect/>
          </a:stretch>
        </p:blipFill>
        <p:spPr>
          <a:xfrm>
            <a:off x="7414786" y="3687685"/>
            <a:ext cx="1048603" cy="225572"/>
          </a:xfrm>
          <a:prstGeom prst="rect">
            <a:avLst/>
          </a:prstGeom>
        </p:spPr>
      </p:pic>
      <p:cxnSp>
        <p:nvCxnSpPr>
          <p:cNvPr id="35" name="Straight Connector 34">
            <a:extLst>
              <a:ext uri="{FF2B5EF4-FFF2-40B4-BE49-F238E27FC236}">
                <a16:creationId xmlns:a16="http://schemas.microsoft.com/office/drawing/2014/main" id="{E3E8533A-D8F1-41D4-B14A-33C380D89EE7}"/>
              </a:ext>
            </a:extLst>
          </p:cNvPr>
          <p:cNvCxnSpPr>
            <a:cxnSpLocks/>
          </p:cNvCxnSpPr>
          <p:nvPr/>
        </p:nvCxnSpPr>
        <p:spPr>
          <a:xfrm>
            <a:off x="9934575" y="4535104"/>
            <a:ext cx="0" cy="12560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A1FA004-2E60-4FE1-A6AA-F6D0C34BEB8B}"/>
              </a:ext>
            </a:extLst>
          </p:cNvPr>
          <p:cNvCxnSpPr>
            <a:cxnSpLocks/>
          </p:cNvCxnSpPr>
          <p:nvPr/>
        </p:nvCxnSpPr>
        <p:spPr>
          <a:xfrm flipH="1">
            <a:off x="7414786" y="5791200"/>
            <a:ext cx="251978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2CFEE9BE-DB99-48AC-9DD6-5C93386E7BA7}"/>
              </a:ext>
            </a:extLst>
          </p:cNvPr>
          <p:cNvSpPr/>
          <p:nvPr/>
        </p:nvSpPr>
        <p:spPr>
          <a:xfrm>
            <a:off x="4965999" y="1179794"/>
            <a:ext cx="1460656" cy="1015663"/>
          </a:xfrm>
          <a:prstGeom prst="rect">
            <a:avLst/>
          </a:prstGeom>
        </p:spPr>
        <p:txBody>
          <a:bodyPr wrap="none">
            <a:spAutoFit/>
          </a:bodyPr>
          <a:lstStyle/>
          <a:p>
            <a:pPr algn="ctr"/>
            <a:r>
              <a:rPr lang="en-IN" sz="2000" b="1" dirty="0">
                <a:solidFill>
                  <a:schemeClr val="bg1"/>
                </a:solidFill>
              </a:rPr>
              <a:t>Data </a:t>
            </a:r>
          </a:p>
          <a:p>
            <a:pPr algn="ctr"/>
            <a:r>
              <a:rPr lang="en-IN" sz="2000" b="1" dirty="0">
                <a:solidFill>
                  <a:schemeClr val="bg1"/>
                </a:solidFill>
              </a:rPr>
              <a:t>Exploration </a:t>
            </a:r>
          </a:p>
          <a:p>
            <a:pPr algn="ctr"/>
            <a:r>
              <a:rPr lang="en-IN" sz="2000" b="1" dirty="0">
                <a:solidFill>
                  <a:schemeClr val="bg1"/>
                </a:solidFill>
              </a:rPr>
              <a:t>(EDA)</a:t>
            </a:r>
          </a:p>
        </p:txBody>
      </p:sp>
      <p:sp>
        <p:nvSpPr>
          <p:cNvPr id="43" name="Rectangle 42">
            <a:extLst>
              <a:ext uri="{FF2B5EF4-FFF2-40B4-BE49-F238E27FC236}">
                <a16:creationId xmlns:a16="http://schemas.microsoft.com/office/drawing/2014/main" id="{3943128E-73A4-458F-924D-9E5D252C6A41}"/>
              </a:ext>
            </a:extLst>
          </p:cNvPr>
          <p:cNvSpPr/>
          <p:nvPr/>
        </p:nvSpPr>
        <p:spPr>
          <a:xfrm>
            <a:off x="8968582" y="1180505"/>
            <a:ext cx="2370136" cy="1015663"/>
          </a:xfrm>
          <a:prstGeom prst="rect">
            <a:avLst/>
          </a:prstGeom>
        </p:spPr>
        <p:txBody>
          <a:bodyPr wrap="none">
            <a:spAutoFit/>
          </a:bodyPr>
          <a:lstStyle/>
          <a:p>
            <a:pPr algn="ctr"/>
            <a:r>
              <a:rPr lang="en-IN" sz="2000" b="1" dirty="0">
                <a:solidFill>
                  <a:schemeClr val="bg1"/>
                </a:solidFill>
              </a:rPr>
              <a:t>Feature Engineering </a:t>
            </a:r>
          </a:p>
          <a:p>
            <a:pPr algn="ctr"/>
            <a:r>
              <a:rPr lang="en-IN" sz="2000" b="1" dirty="0">
                <a:solidFill>
                  <a:schemeClr val="bg1"/>
                </a:solidFill>
              </a:rPr>
              <a:t>&amp; </a:t>
            </a:r>
          </a:p>
          <a:p>
            <a:pPr algn="ctr"/>
            <a:r>
              <a:rPr lang="en-IN" sz="2000" b="1" dirty="0" err="1">
                <a:solidFill>
                  <a:schemeClr val="bg1"/>
                </a:solidFill>
              </a:rPr>
              <a:t>Preprocessing</a:t>
            </a:r>
            <a:endParaRPr lang="en-IN" sz="2000" b="1" dirty="0">
              <a:solidFill>
                <a:schemeClr val="bg1"/>
              </a:solidFill>
            </a:endParaRPr>
          </a:p>
        </p:txBody>
      </p:sp>
      <p:sp>
        <p:nvSpPr>
          <p:cNvPr id="44" name="Rectangle 43">
            <a:extLst>
              <a:ext uri="{FF2B5EF4-FFF2-40B4-BE49-F238E27FC236}">
                <a16:creationId xmlns:a16="http://schemas.microsoft.com/office/drawing/2014/main" id="{4B85D5AE-C211-422D-A757-A6AD4CEB7940}"/>
              </a:ext>
            </a:extLst>
          </p:cNvPr>
          <p:cNvSpPr/>
          <p:nvPr/>
        </p:nvSpPr>
        <p:spPr>
          <a:xfrm>
            <a:off x="540704" y="3252809"/>
            <a:ext cx="2374754" cy="1015663"/>
          </a:xfrm>
          <a:prstGeom prst="rect">
            <a:avLst/>
          </a:prstGeom>
        </p:spPr>
        <p:txBody>
          <a:bodyPr wrap="none">
            <a:spAutoFit/>
          </a:bodyPr>
          <a:lstStyle/>
          <a:p>
            <a:pPr algn="ctr"/>
            <a:r>
              <a:rPr lang="en-IN" sz="2000" b="1" dirty="0">
                <a:solidFill>
                  <a:schemeClr val="bg1"/>
                </a:solidFill>
              </a:rPr>
              <a:t>Model Development</a:t>
            </a:r>
          </a:p>
          <a:p>
            <a:pPr algn="ctr"/>
            <a:r>
              <a:rPr lang="en-IN" sz="2000" b="1" dirty="0">
                <a:solidFill>
                  <a:schemeClr val="bg1"/>
                </a:solidFill>
              </a:rPr>
              <a:t> &amp; </a:t>
            </a:r>
          </a:p>
          <a:p>
            <a:pPr algn="ctr"/>
            <a:r>
              <a:rPr lang="en-IN" sz="2000" b="1" dirty="0">
                <a:solidFill>
                  <a:schemeClr val="bg1"/>
                </a:solidFill>
              </a:rPr>
              <a:t>Selection</a:t>
            </a:r>
            <a:endParaRPr lang="en-IN" b="1" dirty="0">
              <a:solidFill>
                <a:schemeClr val="bg1"/>
              </a:solidFill>
            </a:endParaRPr>
          </a:p>
        </p:txBody>
      </p:sp>
      <p:sp>
        <p:nvSpPr>
          <p:cNvPr id="45" name="Rectangle 44">
            <a:extLst>
              <a:ext uri="{FF2B5EF4-FFF2-40B4-BE49-F238E27FC236}">
                <a16:creationId xmlns:a16="http://schemas.microsoft.com/office/drawing/2014/main" id="{522F6061-E859-49FF-93E9-9F11F54463DA}"/>
              </a:ext>
            </a:extLst>
          </p:cNvPr>
          <p:cNvSpPr/>
          <p:nvPr/>
        </p:nvSpPr>
        <p:spPr>
          <a:xfrm>
            <a:off x="4764732" y="3371542"/>
            <a:ext cx="1801071" cy="707886"/>
          </a:xfrm>
          <a:prstGeom prst="rect">
            <a:avLst/>
          </a:prstGeom>
        </p:spPr>
        <p:txBody>
          <a:bodyPr wrap="square">
            <a:spAutoFit/>
          </a:bodyPr>
          <a:lstStyle/>
          <a:p>
            <a:pPr algn="ctr"/>
            <a:r>
              <a:rPr lang="en-IN" sz="2000" b="1" dirty="0">
                <a:solidFill>
                  <a:schemeClr val="bg1"/>
                </a:solidFill>
              </a:rPr>
              <a:t>Performance</a:t>
            </a:r>
          </a:p>
          <a:p>
            <a:pPr algn="ctr"/>
            <a:r>
              <a:rPr lang="en-IN" sz="2000" b="1" dirty="0">
                <a:solidFill>
                  <a:schemeClr val="bg1"/>
                </a:solidFill>
              </a:rPr>
              <a:t> Evaluation</a:t>
            </a:r>
          </a:p>
        </p:txBody>
      </p:sp>
      <p:sp>
        <p:nvSpPr>
          <p:cNvPr id="46" name="Rectangle 45">
            <a:extLst>
              <a:ext uri="{FF2B5EF4-FFF2-40B4-BE49-F238E27FC236}">
                <a16:creationId xmlns:a16="http://schemas.microsoft.com/office/drawing/2014/main" id="{F51E13F7-DFDD-42D9-B62F-647366F96054}"/>
              </a:ext>
            </a:extLst>
          </p:cNvPr>
          <p:cNvSpPr/>
          <p:nvPr/>
        </p:nvSpPr>
        <p:spPr>
          <a:xfrm>
            <a:off x="5191220" y="5391762"/>
            <a:ext cx="1010213" cy="1015663"/>
          </a:xfrm>
          <a:prstGeom prst="rect">
            <a:avLst/>
          </a:prstGeom>
        </p:spPr>
        <p:txBody>
          <a:bodyPr wrap="none">
            <a:spAutoFit/>
          </a:bodyPr>
          <a:lstStyle/>
          <a:p>
            <a:pPr algn="ctr"/>
            <a:r>
              <a:rPr lang="en-IN" sz="2000" b="1" dirty="0">
                <a:solidFill>
                  <a:schemeClr val="bg1"/>
                </a:solidFill>
              </a:rPr>
              <a:t>Results </a:t>
            </a:r>
          </a:p>
          <a:p>
            <a:pPr algn="ctr"/>
            <a:r>
              <a:rPr lang="en-IN" sz="2000" b="1" dirty="0">
                <a:solidFill>
                  <a:schemeClr val="bg1"/>
                </a:solidFill>
              </a:rPr>
              <a:t>&amp; </a:t>
            </a:r>
          </a:p>
          <a:p>
            <a:pPr algn="ctr"/>
            <a:r>
              <a:rPr lang="en-IN" sz="2000" b="1" dirty="0">
                <a:solidFill>
                  <a:schemeClr val="bg1"/>
                </a:solidFill>
              </a:rPr>
              <a:t>Insights</a:t>
            </a:r>
          </a:p>
        </p:txBody>
      </p:sp>
      <p:sp>
        <p:nvSpPr>
          <p:cNvPr id="47" name="Rectangle 46">
            <a:extLst>
              <a:ext uri="{FF2B5EF4-FFF2-40B4-BE49-F238E27FC236}">
                <a16:creationId xmlns:a16="http://schemas.microsoft.com/office/drawing/2014/main" id="{66E86E27-27CA-4257-BAC6-4D1639D9FA20}"/>
              </a:ext>
            </a:extLst>
          </p:cNvPr>
          <p:cNvSpPr/>
          <p:nvPr/>
        </p:nvSpPr>
        <p:spPr>
          <a:xfrm>
            <a:off x="8689387" y="3594703"/>
            <a:ext cx="2848858" cy="400110"/>
          </a:xfrm>
          <a:prstGeom prst="rect">
            <a:avLst/>
          </a:prstGeom>
        </p:spPr>
        <p:txBody>
          <a:bodyPr wrap="none">
            <a:spAutoFit/>
          </a:bodyPr>
          <a:lstStyle/>
          <a:p>
            <a:pPr algn="ctr"/>
            <a:r>
              <a:rPr lang="en-IN" sz="2000" b="1" dirty="0">
                <a:solidFill>
                  <a:schemeClr val="bg1"/>
                </a:solidFill>
              </a:rPr>
              <a:t>Financial Impact Analysis</a:t>
            </a:r>
          </a:p>
        </p:txBody>
      </p:sp>
    </p:spTree>
    <p:extLst>
      <p:ext uri="{BB962C8B-B14F-4D97-AF65-F5344CB8AC3E}">
        <p14:creationId xmlns:p14="http://schemas.microsoft.com/office/powerpoint/2010/main" val="3780964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8202016B-3085-40C1-A2E7-36F2D014B379}"/>
              </a:ext>
            </a:extLst>
          </p:cNvPr>
          <p:cNvSpPr/>
          <p:nvPr/>
        </p:nvSpPr>
        <p:spPr>
          <a:xfrm>
            <a:off x="2295940" y="5705060"/>
            <a:ext cx="8358808" cy="4114800"/>
          </a:xfrm>
          <a:prstGeom prst="ellips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2C38D9E4-26F1-4777-90AB-6B228DD8C8D1}"/>
              </a:ext>
            </a:extLst>
          </p:cNvPr>
          <p:cNvSpPr/>
          <p:nvPr/>
        </p:nvSpPr>
        <p:spPr>
          <a:xfrm>
            <a:off x="8328991" y="4065103"/>
            <a:ext cx="6052930" cy="4383157"/>
          </a:xfrm>
          <a:prstGeom prst="ellipse">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E5D3B458-2C9A-415D-B0EC-A59841D8DD62}"/>
              </a:ext>
            </a:extLst>
          </p:cNvPr>
          <p:cNvSpPr txBox="1"/>
          <p:nvPr/>
        </p:nvSpPr>
        <p:spPr>
          <a:xfrm>
            <a:off x="198782" y="192985"/>
            <a:ext cx="3365638" cy="646331"/>
          </a:xfrm>
          <a:prstGeom prst="rect">
            <a:avLst/>
          </a:prstGeom>
          <a:noFill/>
        </p:spPr>
        <p:txBody>
          <a:bodyPr wrap="square" rtlCol="0">
            <a:spAutoFit/>
          </a:bodyPr>
          <a:lstStyle/>
          <a:p>
            <a:pPr algn="ctr"/>
            <a:r>
              <a:rPr lang="en-GB" sz="3600" b="1" u="sng" dirty="0"/>
              <a:t>INTRODUCTION</a:t>
            </a:r>
            <a:endParaRPr lang="en-IN" sz="3600" b="1" u="sng" dirty="0"/>
          </a:p>
        </p:txBody>
      </p:sp>
      <p:sp>
        <p:nvSpPr>
          <p:cNvPr id="7" name="Oval 6">
            <a:extLst>
              <a:ext uri="{FF2B5EF4-FFF2-40B4-BE49-F238E27FC236}">
                <a16:creationId xmlns:a16="http://schemas.microsoft.com/office/drawing/2014/main" id="{BEE428C4-B006-4E61-AB2C-DCBFE48ACD7B}"/>
              </a:ext>
            </a:extLst>
          </p:cNvPr>
          <p:cNvSpPr/>
          <p:nvPr/>
        </p:nvSpPr>
        <p:spPr>
          <a:xfrm>
            <a:off x="10164417" y="-84482"/>
            <a:ext cx="4055166" cy="5754757"/>
          </a:xfrm>
          <a:prstGeom prst="ellipse">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B143C1DA-14F4-4D50-A8D0-ED8AF6470803}"/>
              </a:ext>
            </a:extLst>
          </p:cNvPr>
          <p:cNvSpPr txBox="1"/>
          <p:nvPr/>
        </p:nvSpPr>
        <p:spPr>
          <a:xfrm>
            <a:off x="198782" y="916075"/>
            <a:ext cx="10118035" cy="1039178"/>
          </a:xfrm>
          <a:prstGeom prst="rect">
            <a:avLst/>
          </a:prstGeom>
          <a:noFill/>
        </p:spPr>
        <p:txBody>
          <a:bodyPr wrap="square" rtlCol="0">
            <a:spAutoFit/>
          </a:bodyPr>
          <a:lstStyle/>
          <a:p>
            <a:r>
              <a:rPr lang="en-GB" sz="2000" dirty="0"/>
              <a:t>💳 </a:t>
            </a:r>
            <a:r>
              <a:rPr lang="en-GB" sz="2000" b="1" dirty="0"/>
              <a:t>Financial fraud</a:t>
            </a:r>
            <a:r>
              <a:rPr lang="en-GB" sz="2000" dirty="0"/>
              <a:t> has become one of the biggest threats in the digital economy. With millions of online transactions happening every day, fraudulent activities not only lead to </a:t>
            </a:r>
            <a:r>
              <a:rPr lang="en-GB" sz="2000" b="1" dirty="0"/>
              <a:t>billions of dollars in financial losses</a:t>
            </a:r>
            <a:r>
              <a:rPr lang="en-GB" sz="2000" dirty="0"/>
              <a:t> but also damage </a:t>
            </a:r>
            <a:r>
              <a:rPr lang="en-GB" sz="2000" b="1" dirty="0"/>
              <a:t>customer trust</a:t>
            </a:r>
            <a:r>
              <a:rPr lang="en-GB" sz="2000" dirty="0"/>
              <a:t> and the </a:t>
            </a:r>
            <a:r>
              <a:rPr lang="en-GB" sz="2000" b="1" dirty="0"/>
              <a:t>reputation of institutions</a:t>
            </a:r>
            <a:r>
              <a:rPr lang="en-GB" sz="2000" dirty="0"/>
              <a:t>.</a:t>
            </a:r>
          </a:p>
        </p:txBody>
      </p:sp>
      <p:sp>
        <p:nvSpPr>
          <p:cNvPr id="10" name="TextBox 9">
            <a:extLst>
              <a:ext uri="{FF2B5EF4-FFF2-40B4-BE49-F238E27FC236}">
                <a16:creationId xmlns:a16="http://schemas.microsoft.com/office/drawing/2014/main" id="{FF264C3D-2C3D-4EB9-8A63-D7135D3FFF5C}"/>
              </a:ext>
            </a:extLst>
          </p:cNvPr>
          <p:cNvSpPr txBox="1"/>
          <p:nvPr/>
        </p:nvSpPr>
        <p:spPr>
          <a:xfrm>
            <a:off x="122583" y="2091647"/>
            <a:ext cx="10118034" cy="2554545"/>
          </a:xfrm>
          <a:prstGeom prst="rect">
            <a:avLst/>
          </a:prstGeom>
          <a:noFill/>
        </p:spPr>
        <p:txBody>
          <a:bodyPr wrap="square" rtlCol="0">
            <a:spAutoFit/>
          </a:bodyPr>
          <a:lstStyle/>
          <a:p>
            <a:r>
              <a:rPr lang="en-GB" sz="2000" dirty="0"/>
              <a:t>⚠️ Traditional </a:t>
            </a:r>
            <a:r>
              <a:rPr lang="en-GB" sz="2000" b="1" dirty="0"/>
              <a:t>rule-based detection systems</a:t>
            </a:r>
            <a:r>
              <a:rPr lang="en-GB" sz="2000" dirty="0"/>
              <a:t> struggle to keep up because fraudsters are constantly evolving their techniques. Static rules can catch known patterns, but they often fail against new and sophisticated attacks.</a:t>
            </a:r>
          </a:p>
          <a:p>
            <a:endParaRPr lang="en-GB" sz="2000" dirty="0"/>
          </a:p>
          <a:p>
            <a:r>
              <a:rPr lang="en-GB" sz="2000" dirty="0"/>
              <a:t>🤖 </a:t>
            </a:r>
            <a:r>
              <a:rPr lang="en-GB" sz="2000" b="1" dirty="0"/>
              <a:t>Machine Learning (ML) and Artificial Intelligence (AI)</a:t>
            </a:r>
            <a:r>
              <a:rPr lang="en-GB" sz="2000" dirty="0"/>
              <a:t> offer a powerful solution. By </a:t>
            </a:r>
            <a:r>
              <a:rPr lang="en-GB" sz="2000" dirty="0" err="1"/>
              <a:t>analyzing</a:t>
            </a:r>
            <a:r>
              <a:rPr lang="en-GB" sz="2000" dirty="0"/>
              <a:t> vast amounts of transaction data, ML models can </a:t>
            </a:r>
            <a:r>
              <a:rPr lang="en-GB" sz="2000" b="1" dirty="0"/>
              <a:t>detect hidden patterns, adapt to new fraud strategies, and make real-time predictions</a:t>
            </a:r>
            <a:r>
              <a:rPr lang="en-GB" sz="2000" dirty="0"/>
              <a:t> with higher accuracy.</a:t>
            </a:r>
            <a:r>
              <a:rPr lang="en-GB" sz="2000" b="1" dirty="0"/>
              <a:t> </a:t>
            </a:r>
            <a:r>
              <a:rPr lang="en-GB" sz="2000" b="1" dirty="0">
                <a:solidFill>
                  <a:schemeClr val="bg1"/>
                </a:solidFill>
              </a:rPr>
              <a:t>new fraud strategies, and make real-time predictions</a:t>
            </a:r>
            <a:r>
              <a:rPr lang="en-GB" sz="2000" dirty="0">
                <a:solidFill>
                  <a:schemeClr val="bg1"/>
                </a:solidFill>
              </a:rPr>
              <a:t> with higher accuracy.</a:t>
            </a:r>
            <a:endParaRPr lang="en-IN" sz="2000" dirty="0">
              <a:solidFill>
                <a:schemeClr val="bg1"/>
              </a:solidFill>
            </a:endParaRPr>
          </a:p>
        </p:txBody>
      </p:sp>
      <p:sp>
        <p:nvSpPr>
          <p:cNvPr id="11" name="TextBox 10">
            <a:extLst>
              <a:ext uri="{FF2B5EF4-FFF2-40B4-BE49-F238E27FC236}">
                <a16:creationId xmlns:a16="http://schemas.microsoft.com/office/drawing/2014/main" id="{9DDA0605-6C77-4303-A68F-5D368846A84E}"/>
              </a:ext>
            </a:extLst>
          </p:cNvPr>
          <p:cNvSpPr txBox="1"/>
          <p:nvPr/>
        </p:nvSpPr>
        <p:spPr>
          <a:xfrm>
            <a:off x="119271" y="4435606"/>
            <a:ext cx="8136834" cy="1631216"/>
          </a:xfrm>
          <a:prstGeom prst="rect">
            <a:avLst/>
          </a:prstGeom>
          <a:noFill/>
        </p:spPr>
        <p:txBody>
          <a:bodyPr wrap="square" rtlCol="0">
            <a:spAutoFit/>
          </a:bodyPr>
          <a:lstStyle/>
          <a:p>
            <a:r>
              <a:rPr lang="en-GB" sz="2000" u="sng" dirty="0"/>
              <a:t>🎯 </a:t>
            </a:r>
            <a:r>
              <a:rPr lang="en-GB" sz="2000" b="1" u="sng" dirty="0"/>
              <a:t>Objective of this project:</a:t>
            </a:r>
            <a:br>
              <a:rPr lang="en-GB" sz="2000" u="sng" dirty="0"/>
            </a:br>
            <a:r>
              <a:rPr lang="en-GB" sz="2000" dirty="0"/>
              <a:t>To design and evaluate an ML-powered fraud detection system that not only improves the accuracy of identifying fraudulent transactions but also provides </a:t>
            </a:r>
            <a:r>
              <a:rPr lang="en-GB" sz="2000" b="1" dirty="0" err="1"/>
              <a:t>explainability</a:t>
            </a:r>
            <a:r>
              <a:rPr lang="en-GB" sz="2000" b="1" dirty="0"/>
              <a:t>, financial impact analysis, and practical deployment readiness</a:t>
            </a:r>
            <a:r>
              <a:rPr lang="en-GB" sz="2000" dirty="0"/>
              <a:t>.</a:t>
            </a:r>
            <a:endParaRPr lang="en-IN" sz="2000" dirty="0"/>
          </a:p>
        </p:txBody>
      </p:sp>
    </p:spTree>
    <p:extLst>
      <p:ext uri="{BB962C8B-B14F-4D97-AF65-F5344CB8AC3E}">
        <p14:creationId xmlns:p14="http://schemas.microsoft.com/office/powerpoint/2010/main" val="4204570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https://storage.googleapis.com/itsamoghgr-portfolio.appspot.com/uploads/datascience/credit_card_det.png">
            <a:extLst>
              <a:ext uri="{FF2B5EF4-FFF2-40B4-BE49-F238E27FC236}">
                <a16:creationId xmlns:a16="http://schemas.microsoft.com/office/drawing/2014/main" id="{F6A9C499-23DA-4FF4-875B-8483DF5BDB7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00775" y="1401764"/>
            <a:ext cx="4536901" cy="2436812"/>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69282" y="-19050"/>
            <a:ext cx="3245418" cy="612775"/>
          </a:xfrm>
        </p:spPr>
        <p:txBody>
          <a:bodyPr>
            <a:normAutofit fontScale="90000"/>
          </a:bodyPr>
          <a:lstStyle/>
          <a:p>
            <a:r>
              <a:rPr lang="en-GB" dirty="0"/>
              <a:t>Problem Statement</a:t>
            </a:r>
          </a:p>
        </p:txBody>
      </p:sp>
      <p:pic>
        <p:nvPicPr>
          <p:cNvPr id="1030" name="Picture 6" descr="https://thumbs.dreamstime.com/b/ai-powered-aml-monitoring-fraud-detection-machine-learning-compliance-transaction-analysis-risk-management-security-370494553.jpg">
            <a:extLst>
              <a:ext uri="{FF2B5EF4-FFF2-40B4-BE49-F238E27FC236}">
                <a16:creationId xmlns:a16="http://schemas.microsoft.com/office/drawing/2014/main" id="{AFE4C797-03C7-401A-AF7C-1FF730AB6AD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84318" y="219583"/>
            <a:ext cx="2438400" cy="185318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news.mit.edu/sites/default/files/images/201809/MIT-Fraud-Detection-PRESS.jpg">
            <a:extLst>
              <a:ext uri="{FF2B5EF4-FFF2-40B4-BE49-F238E27FC236}">
                <a16:creationId xmlns:a16="http://schemas.microsoft.com/office/drawing/2014/main" id="{EA0FEE4A-238A-47B2-A7A0-D7F42299CC8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29550" y="3613659"/>
            <a:ext cx="4165600" cy="23431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3BB95E9-3789-49C4-81D2-FA8530907FD5}"/>
              </a:ext>
            </a:extLst>
          </p:cNvPr>
          <p:cNvSpPr txBox="1"/>
          <p:nvPr/>
        </p:nvSpPr>
        <p:spPr>
          <a:xfrm>
            <a:off x="196850" y="1146175"/>
            <a:ext cx="5921944" cy="4370427"/>
          </a:xfrm>
          <a:prstGeom prst="rect">
            <a:avLst/>
          </a:prstGeom>
          <a:noFill/>
        </p:spPr>
        <p:txBody>
          <a:bodyPr wrap="square" rtlCol="0">
            <a:spAutoFit/>
          </a:bodyPr>
          <a:lstStyle/>
          <a:p>
            <a:r>
              <a:rPr lang="en-GB" sz="2000" dirty="0"/>
              <a:t>⚠️ Mobile financial transactions are increasingly vulnerable to </a:t>
            </a:r>
            <a:r>
              <a:rPr lang="en-GB" sz="2000" b="1" dirty="0"/>
              <a:t>fraudulent activities</a:t>
            </a:r>
            <a:r>
              <a:rPr lang="en-GB" sz="2000" dirty="0"/>
              <a:t>, causing </a:t>
            </a:r>
            <a:r>
              <a:rPr lang="en-GB" sz="2000" b="1" dirty="0"/>
              <a:t>financial losses</a:t>
            </a:r>
            <a:r>
              <a:rPr lang="en-GB" sz="2000" dirty="0"/>
              <a:t> and damaging </a:t>
            </a:r>
            <a:r>
              <a:rPr lang="en-GB" sz="2000" b="1" dirty="0"/>
              <a:t>customer trust</a:t>
            </a:r>
            <a:r>
              <a:rPr lang="en-GB" sz="2000" dirty="0"/>
              <a:t>.</a:t>
            </a:r>
          </a:p>
          <a:p>
            <a:endParaRPr lang="en-GB" sz="2000" dirty="0"/>
          </a:p>
          <a:p>
            <a:r>
              <a:rPr lang="en-GB" sz="2000" dirty="0"/>
              <a:t>📉 Existing </a:t>
            </a:r>
            <a:r>
              <a:rPr lang="en-GB" sz="2000" b="1" dirty="0"/>
              <a:t>rule-based detection systems</a:t>
            </a:r>
            <a:r>
              <a:rPr lang="en-GB" sz="2000" dirty="0"/>
              <a:t> are limited:</a:t>
            </a:r>
          </a:p>
          <a:p>
            <a:pPr marL="285750" indent="-285750">
              <a:buFont typeface="Wingdings" panose="05000000000000000000" pitchFamily="2" charset="2"/>
              <a:buChar char="§"/>
            </a:pPr>
            <a:r>
              <a:rPr lang="en-GB" sz="2000" dirty="0"/>
              <a:t>Fail to detect new and evolving fraud patterns</a:t>
            </a:r>
          </a:p>
          <a:p>
            <a:pPr marL="285750" indent="-285750">
              <a:buFont typeface="Wingdings" panose="05000000000000000000" pitchFamily="2" charset="2"/>
              <a:buChar char="§"/>
            </a:pPr>
            <a:r>
              <a:rPr lang="en-GB" sz="2000" dirty="0"/>
              <a:t>Generate too many </a:t>
            </a:r>
            <a:r>
              <a:rPr lang="en-GB" sz="2000" b="1" dirty="0"/>
              <a:t>false alarms</a:t>
            </a:r>
            <a:endParaRPr lang="en-GB" sz="2000" dirty="0"/>
          </a:p>
          <a:p>
            <a:pPr marL="285750" indent="-285750">
              <a:buFont typeface="Wingdings" panose="05000000000000000000" pitchFamily="2" charset="2"/>
              <a:buChar char="§"/>
            </a:pPr>
            <a:r>
              <a:rPr lang="en-GB" sz="2000" dirty="0"/>
              <a:t>Lead to increased </a:t>
            </a:r>
            <a:r>
              <a:rPr lang="en-GB" sz="2000" b="1" dirty="0"/>
              <a:t>investigation costs</a:t>
            </a:r>
          </a:p>
          <a:p>
            <a:endParaRPr lang="en-GB" sz="2000" dirty="0"/>
          </a:p>
          <a:p>
            <a:r>
              <a:rPr lang="en-GB" sz="2000" dirty="0"/>
              <a:t>🎯 </a:t>
            </a:r>
            <a:r>
              <a:rPr lang="en-GB" sz="2000" b="1" dirty="0"/>
              <a:t>Objective:</a:t>
            </a:r>
            <a:br>
              <a:rPr lang="en-GB" sz="2000" dirty="0"/>
            </a:br>
            <a:r>
              <a:rPr lang="en-GB" sz="2000" dirty="0"/>
              <a:t>Develop a </a:t>
            </a:r>
            <a:r>
              <a:rPr lang="en-GB" sz="2000" b="1" dirty="0"/>
              <a:t>machine learning–based fraud detection model</a:t>
            </a:r>
            <a:r>
              <a:rPr lang="en-GB" sz="2000" dirty="0"/>
              <a:t> that improves accuracy, reduces false positives, and enables </a:t>
            </a:r>
            <a:r>
              <a:rPr lang="en-GB" sz="2000" b="1" dirty="0"/>
              <a:t>real-time fraud prevention</a:t>
            </a:r>
            <a:r>
              <a:rPr lang="en-GB" sz="2000" dirty="0"/>
              <a:t>.</a:t>
            </a:r>
          </a:p>
          <a:p>
            <a:endParaRPr lang="en-IN" dirty="0"/>
          </a:p>
        </p:txBody>
      </p:sp>
    </p:spTree>
    <p:extLst>
      <p:ext uri="{BB962C8B-B14F-4D97-AF65-F5344CB8AC3E}">
        <p14:creationId xmlns:p14="http://schemas.microsoft.com/office/powerpoint/2010/main" val="1344420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83593791-C409-4EA7-9A65-72574DB93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7231" y="0"/>
            <a:ext cx="6150441" cy="370136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479709C-BB56-409B-A766-3DE5898CDCC9}"/>
              </a:ext>
            </a:extLst>
          </p:cNvPr>
          <p:cNvSpPr>
            <a:spLocks noGrp="1"/>
          </p:cNvSpPr>
          <p:nvPr>
            <p:ph type="title"/>
          </p:nvPr>
        </p:nvSpPr>
        <p:spPr>
          <a:xfrm>
            <a:off x="116909" y="70266"/>
            <a:ext cx="10834234" cy="612775"/>
          </a:xfrm>
        </p:spPr>
        <p:txBody>
          <a:bodyPr/>
          <a:lstStyle/>
          <a:p>
            <a:r>
              <a:rPr lang="en-GB" u="sng" dirty="0"/>
              <a:t>Data Understanding &amp; Exploratory Data Analysis (EDA)</a:t>
            </a:r>
            <a:endParaRPr lang="en-IN" u="sng" dirty="0"/>
          </a:p>
        </p:txBody>
      </p:sp>
      <p:sp>
        <p:nvSpPr>
          <p:cNvPr id="4" name="TextBox 3">
            <a:extLst>
              <a:ext uri="{FF2B5EF4-FFF2-40B4-BE49-F238E27FC236}">
                <a16:creationId xmlns:a16="http://schemas.microsoft.com/office/drawing/2014/main" id="{FBECFF0A-59BA-4E2F-8E68-26198955155E}"/>
              </a:ext>
            </a:extLst>
          </p:cNvPr>
          <p:cNvSpPr txBox="1"/>
          <p:nvPr/>
        </p:nvSpPr>
        <p:spPr>
          <a:xfrm>
            <a:off x="0" y="683041"/>
            <a:ext cx="8269357" cy="5632311"/>
          </a:xfrm>
          <a:prstGeom prst="rect">
            <a:avLst/>
          </a:prstGeom>
          <a:noFill/>
        </p:spPr>
        <p:txBody>
          <a:bodyPr wrap="square" rtlCol="0">
            <a:spAutoFit/>
          </a:bodyPr>
          <a:lstStyle/>
          <a:p>
            <a:r>
              <a:rPr lang="en-IN" u="sng" dirty="0"/>
              <a:t>📊 </a:t>
            </a:r>
            <a:r>
              <a:rPr lang="en-IN" b="1" u="sng" dirty="0"/>
              <a:t>Dataset Overview</a:t>
            </a:r>
            <a:endParaRPr lang="en-IN" u="sng" dirty="0"/>
          </a:p>
          <a:p>
            <a:pPr marL="285750" indent="-285750">
              <a:buFont typeface="Wingdings" panose="05000000000000000000" pitchFamily="2" charset="2"/>
              <a:buChar char="Ø"/>
            </a:pPr>
            <a:r>
              <a:rPr lang="en-IN" dirty="0"/>
              <a:t>Transactions dataset with </a:t>
            </a:r>
            <a:r>
              <a:rPr lang="en-IN" b="1" dirty="0"/>
              <a:t>6+ million records</a:t>
            </a:r>
            <a:endParaRPr lang="en-IN" dirty="0"/>
          </a:p>
          <a:p>
            <a:pPr marL="285750" indent="-285750">
              <a:buFont typeface="Wingdings" panose="05000000000000000000" pitchFamily="2" charset="2"/>
              <a:buChar char="Ø"/>
            </a:pPr>
            <a:r>
              <a:rPr lang="en-IN" dirty="0"/>
              <a:t>Features include: transaction type, amount, origin/destination balances, and time step</a:t>
            </a:r>
          </a:p>
          <a:p>
            <a:pPr marL="285750" indent="-285750">
              <a:buFont typeface="Wingdings" panose="05000000000000000000" pitchFamily="2" charset="2"/>
              <a:buChar char="Ø"/>
            </a:pPr>
            <a:r>
              <a:rPr lang="en-IN" dirty="0"/>
              <a:t>Target variable: </a:t>
            </a:r>
            <a:r>
              <a:rPr lang="en-IN" b="1" dirty="0" err="1"/>
              <a:t>isFraud</a:t>
            </a:r>
            <a:r>
              <a:rPr lang="en-IN" dirty="0"/>
              <a:t> (binary classification: Fraud = 1, Non-Fraud = 0)</a:t>
            </a:r>
          </a:p>
          <a:p>
            <a:r>
              <a:rPr lang="en-GB" dirty="0"/>
              <a:t>⚠️ </a:t>
            </a:r>
            <a:r>
              <a:rPr lang="en-GB" b="1" u="sng" dirty="0"/>
              <a:t>Class Imbalance</a:t>
            </a:r>
            <a:endParaRPr lang="en-GB" u="sng" dirty="0"/>
          </a:p>
          <a:p>
            <a:pPr marL="285750" indent="-285750">
              <a:buFont typeface="Wingdings" panose="05000000000000000000" pitchFamily="2" charset="2"/>
              <a:buChar char="Ø"/>
            </a:pPr>
            <a:r>
              <a:rPr lang="en-GB" dirty="0"/>
              <a:t>Fraudulent transactions make up </a:t>
            </a:r>
            <a:r>
              <a:rPr lang="en-GB" b="1" dirty="0"/>
              <a:t>&lt;1% of total data</a:t>
            </a:r>
            <a:endParaRPr lang="en-GB" dirty="0"/>
          </a:p>
          <a:p>
            <a:pPr marL="285750" indent="-285750">
              <a:buFont typeface="Wingdings" panose="05000000000000000000" pitchFamily="2" charset="2"/>
              <a:buChar char="Ø"/>
            </a:pPr>
            <a:r>
              <a:rPr lang="en-GB" dirty="0"/>
              <a:t>Fraud is mainly concentrated in </a:t>
            </a:r>
            <a:r>
              <a:rPr lang="en-GB" b="1" dirty="0"/>
              <a:t>TRANSFER</a:t>
            </a:r>
            <a:r>
              <a:rPr lang="en-GB" dirty="0"/>
              <a:t> and </a:t>
            </a:r>
            <a:r>
              <a:rPr lang="en-GB" b="1" dirty="0"/>
              <a:t>CASH_OUT</a:t>
            </a:r>
            <a:r>
              <a:rPr lang="en-GB" dirty="0"/>
              <a:t> types</a:t>
            </a:r>
          </a:p>
          <a:p>
            <a:r>
              <a:rPr lang="en-IN" dirty="0"/>
              <a:t>📈 </a:t>
            </a:r>
            <a:r>
              <a:rPr lang="en-IN" b="1" u="sng" dirty="0"/>
              <a:t>Visual Explorations</a:t>
            </a:r>
            <a:endParaRPr lang="en-IN" u="sng" dirty="0"/>
          </a:p>
          <a:p>
            <a:pPr marL="285750" indent="-285750">
              <a:buFont typeface="Wingdings" panose="05000000000000000000" pitchFamily="2" charset="2"/>
              <a:buChar char="Ø"/>
            </a:pPr>
            <a:r>
              <a:rPr lang="en-IN" dirty="0"/>
              <a:t>Class distribution bar chart → shows extreme imbalance</a:t>
            </a:r>
          </a:p>
          <a:p>
            <a:pPr marL="285750" indent="-285750">
              <a:buFont typeface="Wingdings" panose="05000000000000000000" pitchFamily="2" charset="2"/>
              <a:buChar char="Ø"/>
            </a:pPr>
            <a:r>
              <a:rPr lang="en-IN" dirty="0"/>
              <a:t>Transaction type vs fraud heatmap → fraud concentrated in specific transaction types</a:t>
            </a:r>
          </a:p>
          <a:p>
            <a:pPr marL="285750" indent="-285750">
              <a:buFont typeface="Wingdings" panose="05000000000000000000" pitchFamily="2" charset="2"/>
              <a:buChar char="Ø"/>
            </a:pPr>
            <a:r>
              <a:rPr lang="en-IN" dirty="0"/>
              <a:t>Correlation heatmap → “balance error” features highly correlated with fraud</a:t>
            </a:r>
          </a:p>
          <a:p>
            <a:pPr marL="285750" indent="-285750">
              <a:buFont typeface="Wingdings" panose="05000000000000000000" pitchFamily="2" charset="2"/>
              <a:buChar char="Ø"/>
            </a:pPr>
            <a:r>
              <a:rPr lang="en-IN" dirty="0"/>
              <a:t>Transaction amount distribution plot → fraud skewed toward higher values</a:t>
            </a:r>
          </a:p>
          <a:p>
            <a:r>
              <a:rPr lang="en-GB" dirty="0"/>
              <a:t>🔍 </a:t>
            </a:r>
            <a:r>
              <a:rPr lang="en-GB" b="1" u="sng" dirty="0"/>
              <a:t>Key Insights from EDA</a:t>
            </a:r>
            <a:endParaRPr lang="en-IN" dirty="0"/>
          </a:p>
          <a:p>
            <a:pPr marL="285750" indent="-285750">
              <a:buFont typeface="Wingdings" panose="05000000000000000000" pitchFamily="2" charset="2"/>
              <a:buChar char="Ø"/>
            </a:pPr>
            <a:r>
              <a:rPr lang="en-GB" b="1" dirty="0"/>
              <a:t>High-value transactions</a:t>
            </a:r>
            <a:r>
              <a:rPr lang="en-GB" dirty="0"/>
              <a:t> (&gt;100k) are strongly associated with fraud</a:t>
            </a:r>
            <a:endParaRPr lang="en-IN" dirty="0"/>
          </a:p>
          <a:p>
            <a:pPr marL="285750" indent="-285750">
              <a:buFont typeface="Wingdings" panose="05000000000000000000" pitchFamily="2" charset="2"/>
              <a:buChar char="Ø"/>
            </a:pPr>
            <a:r>
              <a:rPr lang="en-GB" b="1" dirty="0"/>
              <a:t>Error in balances</a:t>
            </a:r>
            <a:r>
              <a:rPr lang="en-GB" dirty="0"/>
              <a:t> (mismatch between old/new balances) is a strong fraud indicator</a:t>
            </a:r>
            <a:endParaRPr lang="en-IN" dirty="0"/>
          </a:p>
          <a:p>
            <a:pPr marL="285750" indent="-285750">
              <a:buFont typeface="Wingdings" panose="05000000000000000000" pitchFamily="2" charset="2"/>
              <a:buChar char="Ø"/>
            </a:pPr>
            <a:r>
              <a:rPr lang="en-GB" b="1" dirty="0"/>
              <a:t>Time-based patterns:</a:t>
            </a:r>
            <a:r>
              <a:rPr lang="en-GB" dirty="0"/>
              <a:t> Fraud is spread across days/hours, no strong seasonality</a:t>
            </a:r>
            <a:endParaRPr lang="en-IN" dirty="0"/>
          </a:p>
          <a:p>
            <a:pPr marL="285750" indent="-285750">
              <a:buFont typeface="Wingdings" panose="05000000000000000000" pitchFamily="2" charset="2"/>
              <a:buChar char="Ø"/>
            </a:pPr>
            <a:r>
              <a:rPr lang="en-GB" dirty="0"/>
              <a:t>Fraudulent and non-fraudulent transactions differ in </a:t>
            </a:r>
            <a:r>
              <a:rPr lang="en-GB" b="1" dirty="0"/>
              <a:t>amount distribution and balances</a:t>
            </a:r>
            <a:endParaRPr lang="en-IN" dirty="0"/>
          </a:p>
        </p:txBody>
      </p:sp>
    </p:spTree>
    <p:extLst>
      <p:ext uri="{BB962C8B-B14F-4D97-AF65-F5344CB8AC3E}">
        <p14:creationId xmlns:p14="http://schemas.microsoft.com/office/powerpoint/2010/main" val="3217252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1558E-FDAE-4935-BC38-860C64B4F845}"/>
              </a:ext>
            </a:extLst>
          </p:cNvPr>
          <p:cNvSpPr>
            <a:spLocks noGrp="1"/>
          </p:cNvSpPr>
          <p:nvPr>
            <p:ph type="title"/>
          </p:nvPr>
        </p:nvSpPr>
        <p:spPr>
          <a:xfrm>
            <a:off x="123824" y="0"/>
            <a:ext cx="4636066" cy="612775"/>
          </a:xfrm>
        </p:spPr>
        <p:txBody>
          <a:bodyPr/>
          <a:lstStyle/>
          <a:p>
            <a:r>
              <a:rPr lang="en-GB" u="sng" dirty="0"/>
              <a:t>Important Graphs &amp; Plots</a:t>
            </a:r>
            <a:endParaRPr lang="en-IN" u="sng" dirty="0"/>
          </a:p>
        </p:txBody>
      </p:sp>
      <p:pic>
        <p:nvPicPr>
          <p:cNvPr id="3074" name="Picture 2">
            <a:extLst>
              <a:ext uri="{FF2B5EF4-FFF2-40B4-BE49-F238E27FC236}">
                <a16:creationId xmlns:a16="http://schemas.microsoft.com/office/drawing/2014/main" id="{E9FE09F4-A6C4-42F6-AFF5-A7BD791AB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612775"/>
            <a:ext cx="5657851" cy="3737658"/>
          </a:xfrm>
          <a:prstGeom prst="rect">
            <a:avLst/>
          </a:prstGeom>
          <a:noFill/>
          <a:ln>
            <a:solidFill>
              <a:srgbClr val="161A3E"/>
            </a:solidFill>
          </a:ln>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33FBA7E3-35F2-44D1-AB2B-01F4ECAA91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5" y="612775"/>
            <a:ext cx="5876926" cy="3737658"/>
          </a:xfrm>
          <a:prstGeom prst="rect">
            <a:avLst/>
          </a:prstGeom>
          <a:noFill/>
          <a:ln>
            <a:solidFill>
              <a:srgbClr val="002060"/>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0D0714D-8820-445F-8F14-9C42D458BFF0}"/>
              </a:ext>
            </a:extLst>
          </p:cNvPr>
          <p:cNvSpPr txBox="1"/>
          <p:nvPr/>
        </p:nvSpPr>
        <p:spPr>
          <a:xfrm>
            <a:off x="6272212" y="4591050"/>
            <a:ext cx="5305425" cy="1477328"/>
          </a:xfrm>
          <a:prstGeom prst="rect">
            <a:avLst/>
          </a:prstGeom>
          <a:solidFill>
            <a:schemeClr val="accent2"/>
          </a:solidFill>
        </p:spPr>
        <p:txBody>
          <a:bodyPr wrap="square" rtlCol="0">
            <a:spAutoFit/>
          </a:bodyPr>
          <a:lstStyle/>
          <a:p>
            <a:r>
              <a:rPr lang="en-GB" dirty="0">
                <a:solidFill>
                  <a:schemeClr val="bg1"/>
                </a:solidFill>
              </a:rPr>
              <a:t>This chart illustrates the distribution of fraudulent and non-fraudulent transactions in the dataset. Out of total transaction:</a:t>
            </a:r>
          </a:p>
          <a:p>
            <a:r>
              <a:rPr lang="en-GB" b="1" dirty="0">
                <a:solidFill>
                  <a:schemeClr val="bg1"/>
                </a:solidFill>
              </a:rPr>
              <a:t>89.75</a:t>
            </a:r>
            <a:r>
              <a:rPr lang="en-GB" dirty="0">
                <a:solidFill>
                  <a:schemeClr val="bg1"/>
                </a:solidFill>
              </a:rPr>
              <a:t>% are non-fraudulent, shown in green.</a:t>
            </a:r>
          </a:p>
          <a:p>
            <a:r>
              <a:rPr lang="en-GB" b="1" dirty="0">
                <a:solidFill>
                  <a:schemeClr val="bg1"/>
                </a:solidFill>
              </a:rPr>
              <a:t>10.25</a:t>
            </a:r>
            <a:r>
              <a:rPr lang="en-GB" dirty="0">
                <a:solidFill>
                  <a:schemeClr val="bg1"/>
                </a:solidFill>
              </a:rPr>
              <a:t>% are fraudulent , shown in orange.</a:t>
            </a:r>
          </a:p>
        </p:txBody>
      </p:sp>
      <p:sp>
        <p:nvSpPr>
          <p:cNvPr id="12" name="TextBox 11">
            <a:extLst>
              <a:ext uri="{FF2B5EF4-FFF2-40B4-BE49-F238E27FC236}">
                <a16:creationId xmlns:a16="http://schemas.microsoft.com/office/drawing/2014/main" id="{48788209-4C8A-491C-981B-D5F8ABC36D0E}"/>
              </a:ext>
            </a:extLst>
          </p:cNvPr>
          <p:cNvSpPr txBox="1"/>
          <p:nvPr/>
        </p:nvSpPr>
        <p:spPr>
          <a:xfrm>
            <a:off x="136919" y="4591050"/>
            <a:ext cx="5631658" cy="1815882"/>
          </a:xfrm>
          <a:prstGeom prst="rect">
            <a:avLst/>
          </a:prstGeom>
          <a:solidFill>
            <a:schemeClr val="accent5">
              <a:lumMod val="60000"/>
              <a:lumOff val="40000"/>
            </a:schemeClr>
          </a:solidFill>
        </p:spPr>
        <p:txBody>
          <a:bodyPr wrap="square" rtlCol="0">
            <a:spAutoFit/>
          </a:bodyPr>
          <a:lstStyle/>
          <a:p>
            <a:r>
              <a:rPr lang="en-GB" sz="1600" dirty="0"/>
              <a:t>the frequency of various transaction types in the dataset. The most common type is </a:t>
            </a:r>
            <a:r>
              <a:rPr lang="en-GB" sz="1600" b="1" dirty="0"/>
              <a:t>PAYMENT</a:t>
            </a:r>
            <a:r>
              <a:rPr lang="en-GB" sz="1600" dirty="0"/>
              <a:t>, with over 5,000 instances, indicating routine customer activity. </a:t>
            </a:r>
            <a:r>
              <a:rPr lang="en-GB" sz="1600" b="1" dirty="0"/>
              <a:t>CASH_IN</a:t>
            </a:r>
            <a:r>
              <a:rPr lang="en-GB" sz="1600" dirty="0"/>
              <a:t> and </a:t>
            </a:r>
            <a:r>
              <a:rPr lang="en-GB" sz="1600" b="1" dirty="0"/>
              <a:t>CASH_OUT</a:t>
            </a:r>
            <a:r>
              <a:rPr lang="en-GB" sz="1600" dirty="0"/>
              <a:t> transactions follow, each with counts near 2,000, reflecting typical account movements. </a:t>
            </a:r>
            <a:r>
              <a:rPr lang="en-GB" sz="1600" b="1" dirty="0"/>
              <a:t>TRANSFER</a:t>
            </a:r>
            <a:r>
              <a:rPr lang="en-GB" sz="1600" dirty="0"/>
              <a:t> transactions appear around 1,500 times, while </a:t>
            </a:r>
            <a:r>
              <a:rPr lang="en-GB" sz="1600" b="1" dirty="0"/>
              <a:t>DEBIT</a:t>
            </a:r>
            <a:r>
              <a:rPr lang="en-GB" sz="1600" dirty="0"/>
              <a:t> transactions are the least frequent, with fewer than 500.</a:t>
            </a:r>
          </a:p>
        </p:txBody>
      </p:sp>
    </p:spTree>
    <p:extLst>
      <p:ext uri="{BB962C8B-B14F-4D97-AF65-F5344CB8AC3E}">
        <p14:creationId xmlns:p14="http://schemas.microsoft.com/office/powerpoint/2010/main" val="3508330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7E858-309B-449C-9343-DC5C142A9322}"/>
              </a:ext>
            </a:extLst>
          </p:cNvPr>
          <p:cNvSpPr>
            <a:spLocks noGrp="1"/>
          </p:cNvSpPr>
          <p:nvPr>
            <p:ph type="title"/>
          </p:nvPr>
        </p:nvSpPr>
        <p:spPr>
          <a:xfrm>
            <a:off x="0" y="0"/>
            <a:ext cx="4150291" cy="612775"/>
          </a:xfrm>
        </p:spPr>
        <p:txBody>
          <a:bodyPr/>
          <a:lstStyle/>
          <a:p>
            <a:r>
              <a:rPr lang="en-GB" dirty="0"/>
              <a:t>Fraud Cases Over Time</a:t>
            </a:r>
            <a:endParaRPr lang="en-IN" dirty="0"/>
          </a:p>
        </p:txBody>
      </p:sp>
      <p:pic>
        <p:nvPicPr>
          <p:cNvPr id="4098" name="Picture 2">
            <a:extLst>
              <a:ext uri="{FF2B5EF4-FFF2-40B4-BE49-F238E27FC236}">
                <a16:creationId xmlns:a16="http://schemas.microsoft.com/office/drawing/2014/main" id="{98C08411-24B2-4BD5-A92D-6826F74222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84225"/>
            <a:ext cx="5831193" cy="39973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59FC74AA-3A7E-40D9-A516-75E432C26F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784225"/>
            <a:ext cx="5826009" cy="39973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DC26952-EC2C-4D3D-B356-8A151258CE42}"/>
              </a:ext>
            </a:extLst>
          </p:cNvPr>
          <p:cNvSpPr txBox="1"/>
          <p:nvPr/>
        </p:nvSpPr>
        <p:spPr>
          <a:xfrm>
            <a:off x="180975" y="4953000"/>
            <a:ext cx="5372100" cy="1754326"/>
          </a:xfrm>
          <a:prstGeom prst="rect">
            <a:avLst/>
          </a:prstGeom>
          <a:solidFill>
            <a:srgbClr val="FF9999"/>
          </a:solidFill>
        </p:spPr>
        <p:txBody>
          <a:bodyPr wrap="square" rtlCol="0">
            <a:spAutoFit/>
          </a:bodyPr>
          <a:lstStyle/>
          <a:p>
            <a:r>
              <a:rPr lang="en-GB" dirty="0">
                <a:solidFill>
                  <a:schemeClr val="bg1"/>
                </a:solidFill>
              </a:rPr>
              <a:t>The graph shows how fraud cases vary across hourly steps. Peaks and dips indicate that fraudulent activity is unevenly distributed over time, suggesting certain hours may be more vulnerable. This insight supports time-based monitoring and feature engineering in fraud detection models.</a:t>
            </a:r>
            <a:endParaRPr lang="en-IN" dirty="0">
              <a:solidFill>
                <a:schemeClr val="bg1"/>
              </a:solidFill>
            </a:endParaRPr>
          </a:p>
        </p:txBody>
      </p:sp>
      <p:sp>
        <p:nvSpPr>
          <p:cNvPr id="5" name="TextBox 4">
            <a:extLst>
              <a:ext uri="{FF2B5EF4-FFF2-40B4-BE49-F238E27FC236}">
                <a16:creationId xmlns:a16="http://schemas.microsoft.com/office/drawing/2014/main" id="{B4E85096-8613-4992-86CA-AA90D5311353}"/>
              </a:ext>
            </a:extLst>
          </p:cNvPr>
          <p:cNvSpPr txBox="1"/>
          <p:nvPr/>
        </p:nvSpPr>
        <p:spPr>
          <a:xfrm>
            <a:off x="6407034" y="5091499"/>
            <a:ext cx="5372100" cy="1477328"/>
          </a:xfrm>
          <a:prstGeom prst="rect">
            <a:avLst/>
          </a:prstGeom>
          <a:solidFill>
            <a:srgbClr val="FFFFCC"/>
          </a:solidFill>
        </p:spPr>
        <p:txBody>
          <a:bodyPr wrap="square" rtlCol="0">
            <a:spAutoFit/>
          </a:bodyPr>
          <a:lstStyle/>
          <a:p>
            <a:r>
              <a:rPr lang="en-GB"/>
              <a:t>The graph shows how fraud cases vary by transaction type across time. </a:t>
            </a:r>
            <a:r>
              <a:rPr lang="en-GB" b="1"/>
              <a:t>DEBIT</a:t>
            </a:r>
            <a:r>
              <a:rPr lang="en-GB"/>
              <a:t> transactions show the highest and most frequent spikes, while others like </a:t>
            </a:r>
            <a:r>
              <a:rPr lang="en-GB" b="1"/>
              <a:t>TRANSFER</a:t>
            </a:r>
            <a:r>
              <a:rPr lang="en-GB"/>
              <a:t> and </a:t>
            </a:r>
            <a:r>
              <a:rPr lang="en-GB" b="1"/>
              <a:t>CASH_OUT</a:t>
            </a:r>
            <a:r>
              <a:rPr lang="en-GB"/>
              <a:t> also fluctuate. This helps identify which types are riskier at specific hours.</a:t>
            </a:r>
          </a:p>
        </p:txBody>
      </p:sp>
    </p:spTree>
    <p:extLst>
      <p:ext uri="{BB962C8B-B14F-4D97-AF65-F5344CB8AC3E}">
        <p14:creationId xmlns:p14="http://schemas.microsoft.com/office/powerpoint/2010/main" val="1663192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A3E54-26A6-4CFF-A574-ED918E245BBE}"/>
              </a:ext>
            </a:extLst>
          </p:cNvPr>
          <p:cNvSpPr>
            <a:spLocks noGrp="1"/>
          </p:cNvSpPr>
          <p:nvPr>
            <p:ph type="title"/>
          </p:nvPr>
        </p:nvSpPr>
        <p:spPr>
          <a:xfrm>
            <a:off x="0" y="0"/>
            <a:ext cx="4055041" cy="612775"/>
          </a:xfrm>
        </p:spPr>
        <p:txBody>
          <a:bodyPr>
            <a:normAutofit/>
          </a:bodyPr>
          <a:lstStyle/>
          <a:p>
            <a:r>
              <a:rPr lang="en-GB" sz="3200" u="sng" dirty="0"/>
              <a:t>Correlation Matrix Plot</a:t>
            </a:r>
            <a:endParaRPr lang="en-IN" sz="3200" u="sng" dirty="0"/>
          </a:p>
        </p:txBody>
      </p:sp>
      <p:sp>
        <p:nvSpPr>
          <p:cNvPr id="4" name="TextBox 3">
            <a:extLst>
              <a:ext uri="{FF2B5EF4-FFF2-40B4-BE49-F238E27FC236}">
                <a16:creationId xmlns:a16="http://schemas.microsoft.com/office/drawing/2014/main" id="{2C27396F-3676-4CC2-AC5A-21C0EA9BA422}"/>
              </a:ext>
            </a:extLst>
          </p:cNvPr>
          <p:cNvSpPr txBox="1"/>
          <p:nvPr/>
        </p:nvSpPr>
        <p:spPr>
          <a:xfrm>
            <a:off x="0" y="612775"/>
            <a:ext cx="9058274" cy="400110"/>
          </a:xfrm>
          <a:prstGeom prst="rect">
            <a:avLst/>
          </a:prstGeom>
          <a:noFill/>
        </p:spPr>
        <p:txBody>
          <a:bodyPr wrap="square" rtlCol="0">
            <a:spAutoFit/>
          </a:bodyPr>
          <a:lstStyle/>
          <a:p>
            <a:r>
              <a:rPr lang="en-GB" sz="2000" dirty="0"/>
              <a:t>This Correlation Matrix Plot is to see if any feature is strongly correlated with </a:t>
            </a:r>
            <a:r>
              <a:rPr lang="en-GB" sz="2000" b="1" dirty="0" err="1"/>
              <a:t>isFraud</a:t>
            </a:r>
            <a:r>
              <a:rPr lang="en-GB" sz="2000" b="1" dirty="0"/>
              <a:t>.</a:t>
            </a:r>
            <a:endParaRPr lang="en-IN" sz="2000" b="1" dirty="0"/>
          </a:p>
        </p:txBody>
      </p:sp>
      <p:pic>
        <p:nvPicPr>
          <p:cNvPr id="5122" name="Picture 2">
            <a:extLst>
              <a:ext uri="{FF2B5EF4-FFF2-40B4-BE49-F238E27FC236}">
                <a16:creationId xmlns:a16="http://schemas.microsoft.com/office/drawing/2014/main" id="{F388D025-9C82-4481-9AD8-F939E5D348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12885"/>
            <a:ext cx="7164620" cy="52197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38A1CA0-60F7-4D50-8192-4F27F91FFFCF}"/>
              </a:ext>
            </a:extLst>
          </p:cNvPr>
          <p:cNvSpPr txBox="1"/>
          <p:nvPr/>
        </p:nvSpPr>
        <p:spPr>
          <a:xfrm>
            <a:off x="7543800" y="1152525"/>
            <a:ext cx="4562476" cy="2031325"/>
          </a:xfrm>
          <a:prstGeom prst="rect">
            <a:avLst/>
          </a:prstGeom>
          <a:solidFill>
            <a:schemeClr val="accent4">
              <a:lumMod val="60000"/>
              <a:lumOff val="40000"/>
            </a:schemeClr>
          </a:solidFill>
        </p:spPr>
        <p:txBody>
          <a:bodyPr wrap="square" rtlCol="0">
            <a:spAutoFit/>
          </a:bodyPr>
          <a:lstStyle/>
          <a:p>
            <a:pPr marL="285750" indent="-285750">
              <a:buFont typeface="Courier New" panose="02070309020205020404" pitchFamily="49" charset="0"/>
              <a:buChar char="o"/>
            </a:pPr>
            <a:r>
              <a:rPr lang="en-GB" dirty="0"/>
              <a:t>Step and Amount show strong correlation with </a:t>
            </a:r>
            <a:r>
              <a:rPr lang="en-GB" dirty="0" err="1"/>
              <a:t>isFraud</a:t>
            </a:r>
            <a:r>
              <a:rPr lang="en-GB" dirty="0"/>
              <a:t>.</a:t>
            </a:r>
          </a:p>
          <a:p>
            <a:pPr marL="285750" indent="-285750">
              <a:buFont typeface="Courier New" panose="02070309020205020404" pitchFamily="49" charset="0"/>
              <a:buChar char="o"/>
            </a:pPr>
            <a:r>
              <a:rPr lang="en-GB" dirty="0" err="1"/>
              <a:t>NewBalanceOrg</a:t>
            </a:r>
            <a:r>
              <a:rPr lang="en-GB" dirty="0"/>
              <a:t> has a slight negative correlation with Fraud</a:t>
            </a:r>
          </a:p>
          <a:p>
            <a:pPr marL="285750" indent="-285750">
              <a:buFont typeface="Courier New" panose="02070309020205020404" pitchFamily="49" charset="0"/>
              <a:buChar char="o"/>
            </a:pPr>
            <a:r>
              <a:rPr lang="en-GB" dirty="0" err="1"/>
              <a:t>OldBalanceOrg,OldBalancedest</a:t>
            </a:r>
            <a:r>
              <a:rPr lang="en-GB" dirty="0"/>
              <a:t> and </a:t>
            </a:r>
            <a:r>
              <a:rPr lang="en-GB" dirty="0" err="1"/>
              <a:t>NewBalanceDest</a:t>
            </a:r>
            <a:r>
              <a:rPr lang="en-GB" dirty="0"/>
              <a:t> show weak or no correlation with Fraud</a:t>
            </a:r>
            <a:endParaRPr lang="en-IN" dirty="0"/>
          </a:p>
        </p:txBody>
      </p:sp>
      <p:sp>
        <p:nvSpPr>
          <p:cNvPr id="8" name="TextBox 7">
            <a:extLst>
              <a:ext uri="{FF2B5EF4-FFF2-40B4-BE49-F238E27FC236}">
                <a16:creationId xmlns:a16="http://schemas.microsoft.com/office/drawing/2014/main" id="{8AB98524-1AAE-460E-A8BB-79804A01FE7A}"/>
              </a:ext>
            </a:extLst>
          </p:cNvPr>
          <p:cNvSpPr txBox="1"/>
          <p:nvPr/>
        </p:nvSpPr>
        <p:spPr>
          <a:xfrm>
            <a:off x="7419975" y="3952875"/>
            <a:ext cx="4562476" cy="923330"/>
          </a:xfrm>
          <a:prstGeom prst="rect">
            <a:avLst/>
          </a:prstGeom>
          <a:solidFill>
            <a:srgbClr val="92D050"/>
          </a:solidFill>
        </p:spPr>
        <p:txBody>
          <a:bodyPr wrap="square" rtlCol="0">
            <a:spAutoFit/>
          </a:bodyPr>
          <a:lstStyle/>
          <a:p>
            <a:pPr algn="ctr"/>
            <a:r>
              <a:rPr lang="en-GB" b="1" dirty="0">
                <a:solidFill>
                  <a:schemeClr val="bg1"/>
                </a:solidFill>
              </a:rPr>
              <a:t>Strong internal Correlation exist between:</a:t>
            </a:r>
          </a:p>
          <a:p>
            <a:pPr marL="285750" indent="-285750" algn="ctr">
              <a:buFont typeface="Wingdings" panose="05000000000000000000" pitchFamily="2" charset="2"/>
              <a:buChar char="ü"/>
            </a:pPr>
            <a:r>
              <a:rPr lang="en-GB" dirty="0" err="1">
                <a:solidFill>
                  <a:schemeClr val="bg1"/>
                </a:solidFill>
              </a:rPr>
              <a:t>oldbalanceorg</a:t>
            </a:r>
            <a:r>
              <a:rPr lang="en-GB" dirty="0">
                <a:solidFill>
                  <a:schemeClr val="bg1"/>
                </a:solidFill>
              </a:rPr>
              <a:t> and </a:t>
            </a:r>
            <a:r>
              <a:rPr lang="en-GB" dirty="0" err="1">
                <a:solidFill>
                  <a:schemeClr val="bg1"/>
                </a:solidFill>
              </a:rPr>
              <a:t>newbalancedest</a:t>
            </a:r>
            <a:endParaRPr lang="en-GB" dirty="0">
              <a:solidFill>
                <a:schemeClr val="bg1"/>
              </a:solidFill>
            </a:endParaRPr>
          </a:p>
          <a:p>
            <a:pPr marL="285750" indent="-285750" algn="ctr">
              <a:buFont typeface="Wingdings" panose="05000000000000000000" pitchFamily="2" charset="2"/>
              <a:buChar char="ü"/>
            </a:pPr>
            <a:r>
              <a:rPr lang="en-GB" dirty="0" err="1">
                <a:solidFill>
                  <a:schemeClr val="bg1"/>
                </a:solidFill>
              </a:rPr>
              <a:t>oldbalancedest</a:t>
            </a:r>
            <a:r>
              <a:rPr lang="en-GB" dirty="0">
                <a:solidFill>
                  <a:schemeClr val="bg1"/>
                </a:solidFill>
              </a:rPr>
              <a:t> and </a:t>
            </a:r>
            <a:r>
              <a:rPr lang="en-GB" dirty="0" err="1">
                <a:solidFill>
                  <a:schemeClr val="bg1"/>
                </a:solidFill>
              </a:rPr>
              <a:t>newbalancedest</a:t>
            </a:r>
            <a:endParaRPr lang="en-IN" dirty="0">
              <a:solidFill>
                <a:schemeClr val="bg1"/>
              </a:solidFill>
            </a:endParaRPr>
          </a:p>
        </p:txBody>
      </p:sp>
    </p:spTree>
    <p:extLst>
      <p:ext uri="{BB962C8B-B14F-4D97-AF65-F5344CB8AC3E}">
        <p14:creationId xmlns:p14="http://schemas.microsoft.com/office/powerpoint/2010/main" val="2837092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descr="Generated image">
            <a:extLst>
              <a:ext uri="{FF2B5EF4-FFF2-40B4-BE49-F238E27FC236}">
                <a16:creationId xmlns:a16="http://schemas.microsoft.com/office/drawing/2014/main" id="{14BFDAA6-00AD-4964-90FA-147DD2C2FE5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87241" y="2483663"/>
            <a:ext cx="3604759" cy="240317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6594F0E-21D8-474A-81BE-CB60DDF8B749}"/>
              </a:ext>
            </a:extLst>
          </p:cNvPr>
          <p:cNvSpPr>
            <a:spLocks noGrp="1"/>
          </p:cNvSpPr>
          <p:nvPr>
            <p:ph type="title"/>
          </p:nvPr>
        </p:nvSpPr>
        <p:spPr>
          <a:xfrm>
            <a:off x="0" y="0"/>
            <a:ext cx="3724275" cy="612775"/>
          </a:xfrm>
        </p:spPr>
        <p:txBody>
          <a:bodyPr/>
          <a:lstStyle/>
          <a:p>
            <a:r>
              <a:rPr lang="en-GB" dirty="0"/>
              <a:t>Feature Engineering</a:t>
            </a:r>
            <a:endParaRPr lang="en-IN" dirty="0"/>
          </a:p>
        </p:txBody>
      </p:sp>
      <p:sp>
        <p:nvSpPr>
          <p:cNvPr id="3" name="Content Placeholder 2">
            <a:extLst>
              <a:ext uri="{FF2B5EF4-FFF2-40B4-BE49-F238E27FC236}">
                <a16:creationId xmlns:a16="http://schemas.microsoft.com/office/drawing/2014/main" id="{A1D01F74-372A-4647-BC68-7AC5DC425128}"/>
              </a:ext>
            </a:extLst>
          </p:cNvPr>
          <p:cNvSpPr>
            <a:spLocks noGrp="1"/>
          </p:cNvSpPr>
          <p:nvPr>
            <p:ph idx="1"/>
          </p:nvPr>
        </p:nvSpPr>
        <p:spPr>
          <a:xfrm>
            <a:off x="0" y="612775"/>
            <a:ext cx="10834234" cy="5992550"/>
          </a:xfrm>
        </p:spPr>
        <p:txBody>
          <a:bodyPr>
            <a:normAutofit fontScale="92500" lnSpcReduction="10000"/>
          </a:bodyPr>
          <a:lstStyle/>
          <a:p>
            <a:r>
              <a:rPr lang="en-GB" dirty="0"/>
              <a:t>Handling Missing Values – Imputed missing entries using mean/median for numerical features and mode for categorical features.</a:t>
            </a:r>
          </a:p>
          <a:p>
            <a:r>
              <a:rPr lang="en-GB" dirty="0"/>
              <a:t>Encoding Categorical Variables – Applied one-hot encoding / label encoding for categorical fields like </a:t>
            </a:r>
            <a:r>
              <a:rPr lang="en-GB" dirty="0" err="1"/>
              <a:t>payment_method</a:t>
            </a:r>
            <a:r>
              <a:rPr lang="en-GB" dirty="0"/>
              <a:t>, country, etc.</a:t>
            </a:r>
          </a:p>
          <a:p>
            <a:r>
              <a:rPr lang="en-GB" dirty="0"/>
              <a:t>Feature Scaling – Normalized/standardized numerical variables (e.g., transaction amount, time difference).</a:t>
            </a:r>
          </a:p>
          <a:p>
            <a:r>
              <a:rPr lang="en-GB" dirty="0"/>
              <a:t>Derived Features – Created new meaningful features such as:</a:t>
            </a:r>
          </a:p>
          <a:p>
            <a:pPr>
              <a:buFont typeface="Courier New" panose="02070309020205020404" pitchFamily="49" charset="0"/>
              <a:buChar char="o"/>
            </a:pPr>
            <a:r>
              <a:rPr lang="en-GB" dirty="0"/>
              <a:t>Transaction frequency per user</a:t>
            </a:r>
          </a:p>
          <a:p>
            <a:pPr>
              <a:buFont typeface="Courier New" panose="02070309020205020404" pitchFamily="49" charset="0"/>
              <a:buChar char="o"/>
            </a:pPr>
            <a:r>
              <a:rPr lang="en-GB" dirty="0"/>
              <a:t>Average transaction amount</a:t>
            </a:r>
          </a:p>
          <a:p>
            <a:pPr>
              <a:buFont typeface="Courier New" panose="02070309020205020404" pitchFamily="49" charset="0"/>
              <a:buChar char="o"/>
            </a:pPr>
            <a:r>
              <a:rPr lang="en-GB" dirty="0"/>
              <a:t> Time difference between consecutive transactions.</a:t>
            </a:r>
          </a:p>
          <a:p>
            <a:r>
              <a:rPr lang="en-GB" dirty="0"/>
              <a:t>Outlier Treatment – Detected and capped extreme values to reduce model distortion.</a:t>
            </a:r>
          </a:p>
          <a:p>
            <a:r>
              <a:rPr lang="en-GB" dirty="0"/>
              <a:t>Feature Selection – Retained most informative features using correlation analysis &amp; importance scores</a:t>
            </a:r>
            <a:endParaRPr lang="en-IN" dirty="0"/>
          </a:p>
        </p:txBody>
      </p:sp>
    </p:spTree>
    <p:extLst>
      <p:ext uri="{BB962C8B-B14F-4D97-AF65-F5344CB8AC3E}">
        <p14:creationId xmlns:p14="http://schemas.microsoft.com/office/powerpoint/2010/main" val="3628886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BCFFC-C192-4052-89F7-DF152732A089}"/>
              </a:ext>
            </a:extLst>
          </p:cNvPr>
          <p:cNvSpPr>
            <a:spLocks noGrp="1"/>
          </p:cNvSpPr>
          <p:nvPr>
            <p:ph type="title"/>
          </p:nvPr>
        </p:nvSpPr>
        <p:spPr>
          <a:xfrm>
            <a:off x="78809" y="89316"/>
            <a:ext cx="4559866" cy="612775"/>
          </a:xfrm>
        </p:spPr>
        <p:txBody>
          <a:bodyPr/>
          <a:lstStyle/>
          <a:p>
            <a:r>
              <a:rPr lang="en-GB" u="sng" dirty="0">
                <a:latin typeface="Bahnschrift SemiCondensed" panose="020B0502040204020203" pitchFamily="34" charset="0"/>
              </a:rPr>
              <a:t>Model Selection &amp; Training</a:t>
            </a:r>
            <a:endParaRPr lang="en-IN" u="sng" dirty="0">
              <a:latin typeface="Bahnschrift SemiCondensed" panose="020B0502040204020203" pitchFamily="34" charset="0"/>
            </a:endParaRPr>
          </a:p>
        </p:txBody>
      </p:sp>
      <p:sp>
        <p:nvSpPr>
          <p:cNvPr id="4" name="TextBox 3">
            <a:extLst>
              <a:ext uri="{FF2B5EF4-FFF2-40B4-BE49-F238E27FC236}">
                <a16:creationId xmlns:a16="http://schemas.microsoft.com/office/drawing/2014/main" id="{421B6C97-3919-41E0-8CFA-E053CA45C1DB}"/>
              </a:ext>
            </a:extLst>
          </p:cNvPr>
          <p:cNvSpPr txBox="1"/>
          <p:nvPr/>
        </p:nvSpPr>
        <p:spPr>
          <a:xfrm>
            <a:off x="0" y="702091"/>
            <a:ext cx="11856016" cy="954107"/>
          </a:xfrm>
          <a:prstGeom prst="rect">
            <a:avLst/>
          </a:prstGeom>
          <a:noFill/>
        </p:spPr>
        <p:txBody>
          <a:bodyPr wrap="square" rtlCol="0">
            <a:spAutoFit/>
          </a:bodyPr>
          <a:lstStyle/>
          <a:p>
            <a:r>
              <a:rPr lang="en-GB" sz="2800" dirty="0"/>
              <a:t>&gt;&gt;&gt; Various machine learning models were evaluated to select the most effective approach for fraud detection</a:t>
            </a:r>
            <a:endParaRPr lang="en-IN" sz="2800" dirty="0"/>
          </a:p>
        </p:txBody>
      </p:sp>
      <p:pic>
        <p:nvPicPr>
          <p:cNvPr id="7170" name="Picture 2">
            <a:extLst>
              <a:ext uri="{FF2B5EF4-FFF2-40B4-BE49-F238E27FC236}">
                <a16:creationId xmlns:a16="http://schemas.microsoft.com/office/drawing/2014/main" id="{9222AC39-19E9-482E-84A1-664AA8A6B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8742" y="1717259"/>
            <a:ext cx="7429500" cy="443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9365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11900-3ABA-4FB1-9C0A-D6985B68A044}"/>
              </a:ext>
            </a:extLst>
          </p:cNvPr>
          <p:cNvSpPr>
            <a:spLocks noGrp="1"/>
          </p:cNvSpPr>
          <p:nvPr>
            <p:ph type="title"/>
          </p:nvPr>
        </p:nvSpPr>
        <p:spPr>
          <a:xfrm>
            <a:off x="0" y="0"/>
            <a:ext cx="10834234" cy="612775"/>
          </a:xfrm>
        </p:spPr>
        <p:txBody>
          <a:bodyPr>
            <a:noAutofit/>
          </a:bodyPr>
          <a:lstStyle/>
          <a:p>
            <a:r>
              <a:rPr lang="en-GB" sz="2400" u="sng" dirty="0"/>
              <a:t>Model Performance Evaluation Using ROC-AUC, Precision, Recall &amp; F1-score</a:t>
            </a:r>
            <a:endParaRPr lang="en-IN" sz="2400" u="sng" dirty="0"/>
          </a:p>
        </p:txBody>
      </p:sp>
      <p:sp>
        <p:nvSpPr>
          <p:cNvPr id="4" name="TextBox 3">
            <a:extLst>
              <a:ext uri="{FF2B5EF4-FFF2-40B4-BE49-F238E27FC236}">
                <a16:creationId xmlns:a16="http://schemas.microsoft.com/office/drawing/2014/main" id="{FCF98D0B-618E-4F61-BDEC-F9DE8C8E640F}"/>
              </a:ext>
            </a:extLst>
          </p:cNvPr>
          <p:cNvSpPr txBox="1"/>
          <p:nvPr/>
        </p:nvSpPr>
        <p:spPr>
          <a:xfrm>
            <a:off x="0" y="612775"/>
            <a:ext cx="10925175" cy="2308324"/>
          </a:xfrm>
          <a:prstGeom prst="rect">
            <a:avLst/>
          </a:prstGeom>
          <a:noFill/>
        </p:spPr>
        <p:txBody>
          <a:bodyPr wrap="square" rtlCol="0">
            <a:spAutoFit/>
          </a:bodyPr>
          <a:lstStyle/>
          <a:p>
            <a:r>
              <a:rPr lang="en-GB" dirty="0"/>
              <a:t>&gt;&gt;Each model was trained using the training set (80% of the dataset) and evaluated using the test set (20% of the dataset).</a:t>
            </a:r>
          </a:p>
          <a:p>
            <a:r>
              <a:rPr lang="en-GB" dirty="0"/>
              <a:t>&gt;&gt;Performance metrics such as </a:t>
            </a:r>
            <a:r>
              <a:rPr lang="en-GB" b="1" dirty="0"/>
              <a:t>ROC-AUC, Precision, Recall, and F1-Score</a:t>
            </a:r>
            <a:r>
              <a:rPr lang="en-GB" dirty="0"/>
              <a:t> were used to assess the effectiveness of the models in detecting fraudulent transactions.</a:t>
            </a:r>
          </a:p>
          <a:p>
            <a:r>
              <a:rPr lang="en-GB" dirty="0"/>
              <a:t>&gt;&gt;The evaluation results show that ensemble methods such as </a:t>
            </a:r>
            <a:r>
              <a:rPr lang="en-GB" b="1" dirty="0"/>
              <a:t>Random Forest, </a:t>
            </a:r>
            <a:r>
              <a:rPr lang="en-GB" b="1" dirty="0" err="1"/>
              <a:t>LightGBM</a:t>
            </a:r>
            <a:r>
              <a:rPr lang="en-GB" b="1" dirty="0"/>
              <a:t>, and </a:t>
            </a:r>
            <a:r>
              <a:rPr lang="en-GB" b="1" dirty="0" err="1"/>
              <a:t>XGBoost</a:t>
            </a:r>
            <a:r>
              <a:rPr lang="en-GB" dirty="0"/>
              <a:t> achieved the best performance with </a:t>
            </a:r>
            <a:r>
              <a:rPr lang="en-GB" b="1" dirty="0"/>
              <a:t>ROC-AUC of 1.0</a:t>
            </a:r>
            <a:r>
              <a:rPr lang="en-GB" dirty="0"/>
              <a:t>, along with high precision and recall.</a:t>
            </a:r>
          </a:p>
          <a:p>
            <a:r>
              <a:rPr lang="en-GB" dirty="0"/>
              <a:t>In comparison, </a:t>
            </a:r>
            <a:r>
              <a:rPr lang="en-GB" b="1" dirty="0"/>
              <a:t>Decision Tree</a:t>
            </a:r>
            <a:r>
              <a:rPr lang="en-GB" dirty="0"/>
              <a:t> performed slightly lower, while </a:t>
            </a:r>
            <a:r>
              <a:rPr lang="en-GB" b="1" dirty="0"/>
              <a:t>Logistic Regression</a:t>
            </a:r>
            <a:r>
              <a:rPr lang="en-GB" dirty="0"/>
              <a:t> showed the weakest performance with lower precision and F1-score.</a:t>
            </a:r>
          </a:p>
        </p:txBody>
      </p:sp>
      <p:sp>
        <p:nvSpPr>
          <p:cNvPr id="6" name="TextBox 5">
            <a:extLst>
              <a:ext uri="{FF2B5EF4-FFF2-40B4-BE49-F238E27FC236}">
                <a16:creationId xmlns:a16="http://schemas.microsoft.com/office/drawing/2014/main" id="{21A88C1A-7066-4BCF-A946-D409CED41A8F}"/>
              </a:ext>
            </a:extLst>
          </p:cNvPr>
          <p:cNvSpPr txBox="1"/>
          <p:nvPr/>
        </p:nvSpPr>
        <p:spPr>
          <a:xfrm>
            <a:off x="1219200" y="3295650"/>
            <a:ext cx="8086725" cy="2209800"/>
          </a:xfrm>
          <a:prstGeom prst="rect">
            <a:avLst/>
          </a:prstGeom>
          <a:noFill/>
        </p:spPr>
        <p:txBody>
          <a:bodyPr wrap="square" rtlCol="0">
            <a:spAutoFit/>
          </a:bodyPr>
          <a:lstStyle/>
          <a:p>
            <a:endParaRPr lang="en-IN" dirty="0"/>
          </a:p>
        </p:txBody>
      </p:sp>
      <p:graphicFrame>
        <p:nvGraphicFramePr>
          <p:cNvPr id="8" name="Table 7">
            <a:extLst>
              <a:ext uri="{FF2B5EF4-FFF2-40B4-BE49-F238E27FC236}">
                <a16:creationId xmlns:a16="http://schemas.microsoft.com/office/drawing/2014/main" id="{11002667-2D71-4F10-9143-B349B62AD363}"/>
              </a:ext>
            </a:extLst>
          </p:cNvPr>
          <p:cNvGraphicFramePr>
            <a:graphicFrameLocks noGrp="1"/>
          </p:cNvGraphicFramePr>
          <p:nvPr>
            <p:extLst>
              <p:ext uri="{D42A27DB-BD31-4B8C-83A1-F6EECF244321}">
                <p14:modId xmlns:p14="http://schemas.microsoft.com/office/powerpoint/2010/main" val="2880825503"/>
              </p:ext>
            </p:extLst>
          </p:nvPr>
        </p:nvGraphicFramePr>
        <p:xfrm>
          <a:off x="679449" y="3036570"/>
          <a:ext cx="10833102" cy="2468880"/>
        </p:xfrm>
        <a:graphic>
          <a:graphicData uri="http://schemas.openxmlformats.org/drawingml/2006/table">
            <a:tbl>
              <a:tblPr/>
              <a:tblGrid>
                <a:gridCol w="1805517">
                  <a:extLst>
                    <a:ext uri="{9D8B030D-6E8A-4147-A177-3AD203B41FA5}">
                      <a16:colId xmlns:a16="http://schemas.microsoft.com/office/drawing/2014/main" val="1343330905"/>
                    </a:ext>
                  </a:extLst>
                </a:gridCol>
                <a:gridCol w="1805517">
                  <a:extLst>
                    <a:ext uri="{9D8B030D-6E8A-4147-A177-3AD203B41FA5}">
                      <a16:colId xmlns:a16="http://schemas.microsoft.com/office/drawing/2014/main" val="2040846372"/>
                    </a:ext>
                  </a:extLst>
                </a:gridCol>
                <a:gridCol w="1805517">
                  <a:extLst>
                    <a:ext uri="{9D8B030D-6E8A-4147-A177-3AD203B41FA5}">
                      <a16:colId xmlns:a16="http://schemas.microsoft.com/office/drawing/2014/main" val="2811814211"/>
                    </a:ext>
                  </a:extLst>
                </a:gridCol>
                <a:gridCol w="1805517">
                  <a:extLst>
                    <a:ext uri="{9D8B030D-6E8A-4147-A177-3AD203B41FA5}">
                      <a16:colId xmlns:a16="http://schemas.microsoft.com/office/drawing/2014/main" val="596628939"/>
                    </a:ext>
                  </a:extLst>
                </a:gridCol>
                <a:gridCol w="1805517">
                  <a:extLst>
                    <a:ext uri="{9D8B030D-6E8A-4147-A177-3AD203B41FA5}">
                      <a16:colId xmlns:a16="http://schemas.microsoft.com/office/drawing/2014/main" val="895989076"/>
                    </a:ext>
                  </a:extLst>
                </a:gridCol>
                <a:gridCol w="1805517">
                  <a:extLst>
                    <a:ext uri="{9D8B030D-6E8A-4147-A177-3AD203B41FA5}">
                      <a16:colId xmlns:a16="http://schemas.microsoft.com/office/drawing/2014/main" val="1107633633"/>
                    </a:ext>
                  </a:extLst>
                </a:gridCol>
              </a:tblGrid>
              <a:tr h="365760">
                <a:tc>
                  <a:txBody>
                    <a:bodyPr/>
                    <a:lstStyle/>
                    <a:p>
                      <a:pPr algn="r" fontAlgn="ctr"/>
                      <a:r>
                        <a:rPr lang="en-GB" sz="1800" b="1" dirty="0">
                          <a:effectLst/>
                        </a:rPr>
                        <a:t>S.no</a:t>
                      </a:r>
                      <a:endParaRPr lang="en-IN" sz="18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IN" sz="1800" b="1" dirty="0">
                          <a:effectLst/>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IN" sz="1800" b="1" dirty="0">
                          <a:effectLst/>
                        </a:rPr>
                        <a:t>ROC-AUC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IN" sz="1800" b="1" dirty="0">
                          <a:effectLst/>
                        </a:rPr>
                        <a:t>Precision (Fraud)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IN" sz="1800" b="1" dirty="0">
                          <a:effectLst/>
                        </a:rPr>
                        <a:t>Recall (Fraud)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IN" sz="1800" b="1" dirty="0">
                          <a:effectLst/>
                        </a:rPr>
                        <a:t>            F1 (Fraud)</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2188645303"/>
                  </a:ext>
                </a:extLst>
              </a:tr>
              <a:tr h="365760">
                <a:tc>
                  <a:txBody>
                    <a:bodyPr/>
                    <a:lstStyle/>
                    <a:p>
                      <a:pPr algn="r" fontAlgn="ctr"/>
                      <a:r>
                        <a:rPr lang="en-IN" sz="1800" b="1" dirty="0">
                          <a:effectLs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a:effectLst/>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a:effectLst/>
                        </a:rPr>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a:effectLst/>
                        </a:rPr>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a:effectLst/>
                        </a:rPr>
                        <a:t>0.9956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a:effectLst/>
                        </a:rPr>
                        <a:t>0.9978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900854584"/>
                  </a:ext>
                </a:extLst>
              </a:tr>
              <a:tr h="365760">
                <a:tc>
                  <a:txBody>
                    <a:bodyPr/>
                    <a:lstStyle/>
                    <a:p>
                      <a:pPr algn="r" fontAlgn="ctr"/>
                      <a:r>
                        <a:rPr lang="en-IN" sz="1800" b="1" dirty="0">
                          <a:effectLs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err="1">
                          <a:effectLst/>
                        </a:rPr>
                        <a:t>LightGBM</a:t>
                      </a:r>
                      <a:endParaRPr lang="en-IN" sz="18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a:effectLst/>
                        </a:rPr>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a:effectLst/>
                        </a:rPr>
                        <a:t>0.9956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a:effectLst/>
                        </a:rPr>
                        <a:t>0.9956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a:effectLst/>
                        </a:rPr>
                        <a:t>0.9956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698253366"/>
                  </a:ext>
                </a:extLst>
              </a:tr>
              <a:tr h="365760">
                <a:tc>
                  <a:txBody>
                    <a:bodyPr/>
                    <a:lstStyle/>
                    <a:p>
                      <a:pPr algn="r" fontAlgn="ctr"/>
                      <a:r>
                        <a:rPr lang="en-IN" sz="1800" b="1">
                          <a:effectLs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err="1">
                          <a:effectLst/>
                        </a:rPr>
                        <a:t>XGBoost</a:t>
                      </a:r>
                      <a:endParaRPr lang="en-IN" sz="18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a:effectLst/>
                        </a:rPr>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a:effectLst/>
                        </a:rPr>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a:effectLst/>
                        </a:rPr>
                        <a:t>0.9956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a:effectLst/>
                        </a:rPr>
                        <a:t>0.9978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7797232"/>
                  </a:ext>
                </a:extLst>
              </a:tr>
              <a:tr h="365760">
                <a:tc>
                  <a:txBody>
                    <a:bodyPr/>
                    <a:lstStyle/>
                    <a:p>
                      <a:pPr algn="r" fontAlgn="ctr"/>
                      <a:r>
                        <a:rPr lang="en-IN" sz="1800" b="1">
                          <a:effectLs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a:effectLst/>
                        </a:rPr>
                        <a:t>Decision Tree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a:effectLst/>
                        </a:rPr>
                        <a:t>0.9976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a:effectLst/>
                        </a:rPr>
                        <a:t>0.9956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a:effectLst/>
                        </a:rPr>
                        <a:t>0.9956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a:effectLst/>
                        </a:rPr>
                        <a:t>0.9956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784761061"/>
                  </a:ext>
                </a:extLst>
              </a:tr>
              <a:tr h="640080">
                <a:tc>
                  <a:txBody>
                    <a:bodyPr/>
                    <a:lstStyle/>
                    <a:p>
                      <a:pPr algn="r" fontAlgn="ctr"/>
                      <a:r>
                        <a:rPr lang="en-IN" sz="1800" b="1">
                          <a:effectLs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a:effectLst/>
                        </a:rPr>
                        <a:t>Logistic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a:effectLst/>
                        </a:rPr>
                        <a:t>0.9921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a:effectLst/>
                        </a:rPr>
                        <a:t>0.8835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a:effectLst/>
                        </a:rPr>
                        <a:t>0.9649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ctr"/>
                      <a:r>
                        <a:rPr lang="en-IN" sz="1800" dirty="0">
                          <a:effectLst/>
                        </a:rPr>
                        <a:t>0.9224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493995438"/>
                  </a:ext>
                </a:extLst>
              </a:tr>
            </a:tbl>
          </a:graphicData>
        </a:graphic>
      </p:graphicFrame>
    </p:spTree>
    <p:extLst>
      <p:ext uri="{BB962C8B-B14F-4D97-AF65-F5344CB8AC3E}">
        <p14:creationId xmlns:p14="http://schemas.microsoft.com/office/powerpoint/2010/main" val="3399116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hought Bubble: Cloud 8">
            <a:extLst>
              <a:ext uri="{FF2B5EF4-FFF2-40B4-BE49-F238E27FC236}">
                <a16:creationId xmlns:a16="http://schemas.microsoft.com/office/drawing/2014/main" id="{DA6EB7E6-3709-4C2B-B8D2-4BD8B221553E}"/>
              </a:ext>
            </a:extLst>
          </p:cNvPr>
          <p:cNvSpPr/>
          <p:nvPr/>
        </p:nvSpPr>
        <p:spPr>
          <a:xfrm>
            <a:off x="8553450" y="2502983"/>
            <a:ext cx="2924175" cy="1690950"/>
          </a:xfrm>
          <a:prstGeom prst="cloudCallout">
            <a:avLst>
              <a:gd name="adj1" fmla="val -54058"/>
              <a:gd name="adj2" fmla="val 534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solidFill>
                  <a:srgbClr val="FF0000"/>
                </a:solidFill>
              </a:rPr>
              <a:t>Bar chart </a:t>
            </a:r>
          </a:p>
          <a:p>
            <a:pPr algn="ctr"/>
            <a:r>
              <a:rPr lang="en-IN" sz="2800" dirty="0">
                <a:solidFill>
                  <a:srgbClr val="FF0000"/>
                </a:solidFill>
              </a:rPr>
              <a:t>Of</a:t>
            </a:r>
          </a:p>
          <a:p>
            <a:pPr algn="ctr"/>
            <a:r>
              <a:rPr lang="en-IN" sz="2800" dirty="0">
                <a:solidFill>
                  <a:srgbClr val="FF0000"/>
                </a:solidFill>
              </a:rPr>
              <a:t> metrics</a:t>
            </a:r>
          </a:p>
        </p:txBody>
      </p:sp>
      <p:sp>
        <p:nvSpPr>
          <p:cNvPr id="2" name="Title 1">
            <a:extLst>
              <a:ext uri="{FF2B5EF4-FFF2-40B4-BE49-F238E27FC236}">
                <a16:creationId xmlns:a16="http://schemas.microsoft.com/office/drawing/2014/main" id="{55A5A7C4-0D85-406C-92B2-EAF32718A197}"/>
              </a:ext>
            </a:extLst>
          </p:cNvPr>
          <p:cNvSpPr>
            <a:spLocks noGrp="1"/>
          </p:cNvSpPr>
          <p:nvPr>
            <p:ph type="title"/>
          </p:nvPr>
        </p:nvSpPr>
        <p:spPr>
          <a:xfrm>
            <a:off x="66675" y="0"/>
            <a:ext cx="2981325" cy="612775"/>
          </a:xfrm>
        </p:spPr>
        <p:txBody>
          <a:bodyPr/>
          <a:lstStyle/>
          <a:p>
            <a:r>
              <a:rPr lang="en-GB" dirty="0"/>
              <a:t>Model Selection</a:t>
            </a:r>
            <a:endParaRPr lang="en-IN" dirty="0"/>
          </a:p>
        </p:txBody>
      </p:sp>
      <p:sp>
        <p:nvSpPr>
          <p:cNvPr id="3" name="Content Placeholder 2">
            <a:extLst>
              <a:ext uri="{FF2B5EF4-FFF2-40B4-BE49-F238E27FC236}">
                <a16:creationId xmlns:a16="http://schemas.microsoft.com/office/drawing/2014/main" id="{7515B90B-2656-4EFD-84E1-4955CD84043D}"/>
              </a:ext>
            </a:extLst>
          </p:cNvPr>
          <p:cNvSpPr>
            <a:spLocks noGrp="1"/>
          </p:cNvSpPr>
          <p:nvPr>
            <p:ph idx="1"/>
          </p:nvPr>
        </p:nvSpPr>
        <p:spPr>
          <a:xfrm>
            <a:off x="66675" y="612775"/>
            <a:ext cx="10834234" cy="2296850"/>
          </a:xfrm>
        </p:spPr>
        <p:txBody>
          <a:bodyPr>
            <a:normAutofit/>
          </a:bodyPr>
          <a:lstStyle/>
          <a:p>
            <a:pPr marL="0" indent="0">
              <a:buNone/>
            </a:pPr>
            <a:r>
              <a:rPr lang="en-GB" sz="1800" dirty="0"/>
              <a:t>&gt;&gt;We selected </a:t>
            </a:r>
            <a:r>
              <a:rPr lang="en-GB" sz="1800" b="1" dirty="0" err="1"/>
              <a:t>XGBoost</a:t>
            </a:r>
            <a:r>
              <a:rPr lang="en-GB" sz="1800" dirty="0"/>
              <a:t> as the best-performing model because it consistently achieved the highest precision, recall, F1-score, and ROC-AUC across our evaluation. Its ability to handle imbalanced data makes it highly effective for fraud detection, where identifying rare fraudulent cases is critical. In addition, </a:t>
            </a:r>
            <a:r>
              <a:rPr lang="en-GB" sz="1800" dirty="0" err="1"/>
              <a:t>XGBoost</a:t>
            </a:r>
            <a:r>
              <a:rPr lang="en-GB" sz="1800" dirty="0"/>
              <a:t> incorporates advanced regularization techniques that reduce overfitting and improve generalization, ensuring the model performs well on unseen data. It is also optimized for speed and scalability, offering faster training and prediction compared to traditional ensemble methods. Given its strong balance of accuracy, robustness, and efficiency, </a:t>
            </a:r>
            <a:r>
              <a:rPr lang="en-GB" sz="1800" dirty="0" err="1"/>
              <a:t>XGBoost</a:t>
            </a:r>
            <a:r>
              <a:rPr lang="en-GB" sz="1800" dirty="0"/>
              <a:t> emerged as the most reliable choice for our task.</a:t>
            </a:r>
            <a:endParaRPr lang="en-IN" sz="1800" dirty="0"/>
          </a:p>
        </p:txBody>
      </p:sp>
      <p:pic>
        <p:nvPicPr>
          <p:cNvPr id="1026" name="Picture 2">
            <a:extLst>
              <a:ext uri="{FF2B5EF4-FFF2-40B4-BE49-F238E27FC236}">
                <a16:creationId xmlns:a16="http://schemas.microsoft.com/office/drawing/2014/main" id="{1993030F-6964-416E-9370-A1458A5F28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768" y="2502983"/>
            <a:ext cx="7843837" cy="4249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448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AC2AFAC-4B41-41CA-BB9B-0C3927CE2333}"/>
              </a:ext>
            </a:extLst>
          </p:cNvPr>
          <p:cNvPicPr>
            <a:picLocks noChangeAspect="1"/>
          </p:cNvPicPr>
          <p:nvPr/>
        </p:nvPicPr>
        <p:blipFill>
          <a:blip r:embed="rId2"/>
          <a:stretch>
            <a:fillRect/>
          </a:stretch>
        </p:blipFill>
        <p:spPr>
          <a:xfrm>
            <a:off x="7743825" y="182191"/>
            <a:ext cx="4448175" cy="4448175"/>
          </a:xfrm>
          <a:prstGeom prst="rect">
            <a:avLst/>
          </a:prstGeom>
        </p:spPr>
      </p:pic>
      <p:sp>
        <p:nvSpPr>
          <p:cNvPr id="2" name="Title 1">
            <a:extLst>
              <a:ext uri="{FF2B5EF4-FFF2-40B4-BE49-F238E27FC236}">
                <a16:creationId xmlns:a16="http://schemas.microsoft.com/office/drawing/2014/main" id="{1A446511-A219-4B25-91F2-FB0E92DE29FA}"/>
              </a:ext>
            </a:extLst>
          </p:cNvPr>
          <p:cNvSpPr>
            <a:spLocks noGrp="1"/>
          </p:cNvSpPr>
          <p:nvPr>
            <p:ph type="title"/>
          </p:nvPr>
        </p:nvSpPr>
        <p:spPr>
          <a:xfrm>
            <a:off x="678883" y="0"/>
            <a:ext cx="10834234" cy="612775"/>
          </a:xfrm>
        </p:spPr>
        <p:txBody>
          <a:bodyPr/>
          <a:lstStyle/>
          <a:p>
            <a:pPr algn="ctr"/>
            <a:r>
              <a:rPr lang="en-GB" dirty="0"/>
              <a:t>Model Deployment</a:t>
            </a:r>
            <a:endParaRPr lang="en-IN" dirty="0"/>
          </a:p>
        </p:txBody>
      </p:sp>
      <p:sp>
        <p:nvSpPr>
          <p:cNvPr id="4" name="Rectangle 1">
            <a:extLst>
              <a:ext uri="{FF2B5EF4-FFF2-40B4-BE49-F238E27FC236}">
                <a16:creationId xmlns:a16="http://schemas.microsoft.com/office/drawing/2014/main" id="{70A1469B-C66B-4222-A82A-A92B82BDC248}"/>
              </a:ext>
            </a:extLst>
          </p:cNvPr>
          <p:cNvSpPr>
            <a:spLocks noGrp="1" noChangeArrowheads="1"/>
          </p:cNvSpPr>
          <p:nvPr>
            <p:ph idx="1"/>
          </p:nvPr>
        </p:nvSpPr>
        <p:spPr bwMode="auto">
          <a:xfrm>
            <a:off x="97859" y="817825"/>
            <a:ext cx="10834234" cy="4398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Model Integration</a:t>
            </a:r>
            <a:r>
              <a:rPr kumimoji="0" lang="en-US" altLang="en-US" sz="1800" b="0" i="0" u="none" strike="noStrike" cap="none" normalizeH="0" baseline="0" dirty="0">
                <a:ln>
                  <a:noFill/>
                </a:ln>
                <a:solidFill>
                  <a:schemeClr val="tx1"/>
                </a:solidFill>
                <a:effectLst/>
                <a:latin typeface="Arial" panose="020B0604020202020204" pitchFamily="34" charset="0"/>
              </a:rPr>
              <a:t>: Loads the trained </a:t>
            </a:r>
            <a:r>
              <a:rPr kumimoji="0" lang="en-US" altLang="en-US" sz="1800" b="1" i="0" u="none" strike="noStrike" cap="none" normalizeH="0" baseline="0" dirty="0" err="1">
                <a:ln>
                  <a:noFill/>
                </a:ln>
                <a:solidFill>
                  <a:schemeClr val="tx1"/>
                </a:solidFill>
                <a:effectLst/>
                <a:latin typeface="Arial" panose="020B0604020202020204" pitchFamily="34" charset="0"/>
              </a:rPr>
              <a:t>XGBoost</a:t>
            </a:r>
            <a:r>
              <a:rPr kumimoji="0" lang="en-US" altLang="en-US" sz="1800" b="1" i="0" u="none" strike="noStrike" cap="none" normalizeH="0" baseline="0" dirty="0">
                <a:ln>
                  <a:noFill/>
                </a:ln>
                <a:solidFill>
                  <a:schemeClr val="tx1"/>
                </a:solidFill>
                <a:effectLst/>
                <a:latin typeface="Arial" panose="020B0604020202020204" pitchFamily="34" charset="0"/>
              </a:rPr>
              <a:t> model (</a:t>
            </a:r>
            <a:r>
              <a:rPr kumimoji="0" lang="en-US" altLang="en-US" sz="1000" b="1" i="0" u="none" strike="noStrike" cap="none" normalizeH="0" baseline="0" dirty="0" err="1">
                <a:ln>
                  <a:noFill/>
                </a:ln>
                <a:solidFill>
                  <a:schemeClr val="tx1"/>
                </a:solidFill>
                <a:effectLst/>
                <a:latin typeface="Arial Unicode MS"/>
              </a:rPr>
              <a:t>final_model.pkl</a:t>
            </a:r>
            <a:r>
              <a:rPr kumimoji="0" lang="en-US" altLang="en-US" sz="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scaler (</a:t>
            </a:r>
            <a:r>
              <a:rPr kumimoji="0" lang="en-US" altLang="en-US" sz="1000" b="1" i="0" u="none" strike="noStrike" cap="none" normalizeH="0" baseline="0" dirty="0" err="1">
                <a:ln>
                  <a:noFill/>
                </a:ln>
                <a:solidFill>
                  <a:schemeClr val="tx1"/>
                </a:solidFill>
                <a:effectLst/>
                <a:latin typeface="Arial Unicode MS"/>
              </a:rPr>
              <a:t>scaler.pkl</a:t>
            </a:r>
            <a:r>
              <a:rPr kumimoji="0" lang="en-US" altLang="en-US" sz="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latin typeface="Arial" panose="020B0604020202020204" pitchFamily="34" charset="0"/>
              </a:rPr>
              <a:t> for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Input Form</a:t>
            </a:r>
            <a:r>
              <a:rPr kumimoji="0" lang="en-US" altLang="en-US" sz="1800" b="0" i="0" u="none" strike="noStrike" cap="none" normalizeH="0" baseline="0" dirty="0">
                <a:ln>
                  <a:noFill/>
                </a:ln>
                <a:solidFill>
                  <a:schemeClr val="tx1"/>
                </a:solidFill>
                <a:effectLst/>
                <a:latin typeface="Arial" panose="020B0604020202020204" pitchFamily="34" charset="0"/>
              </a:rPr>
              <a:t>: Collects transaction details such as: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Step (time index)</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Transaction Type (CASH_OUT, TRANSFER, etc.)</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Transaction Amount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Origin and Destination balances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Merchant flag (is destination a merchant?)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Feature Engineering in App</a:t>
            </a:r>
            <a:r>
              <a:rPr kumimoji="0" lang="en-US" altLang="en-US" sz="1800" b="0" i="0" u="none" strike="noStrike" cap="none" normalizeH="0" baseline="0" dirty="0">
                <a:ln>
                  <a:noFill/>
                </a:ln>
                <a:solidFill>
                  <a:schemeClr val="tx1"/>
                </a:solidFill>
                <a:effectLst/>
                <a:latin typeface="Arial" panose="020B0604020202020204" pitchFamily="34" charset="0"/>
              </a:rPr>
              <a:t>: Automatically recreates the same features used during training: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Time-based features (Day, Hour from Step)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Error balances (origin &amp; destination balance mismatches)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High-value transaction flag (&gt;200,000)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One-hot encoding for transaction type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Prediction Output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Displays result as </a:t>
            </a:r>
            <a:r>
              <a:rPr kumimoji="0" lang="en-US" altLang="en-US" sz="1800" b="1" i="0" u="none" strike="noStrike" cap="none" normalizeH="0" baseline="0" dirty="0">
                <a:ln>
                  <a:noFill/>
                </a:ln>
                <a:solidFill>
                  <a:schemeClr val="tx1"/>
                </a:solidFill>
                <a:effectLst/>
                <a:latin typeface="Arial" panose="020B0604020202020204" pitchFamily="34" charset="0"/>
              </a:rPr>
              <a:t>Fraudulent Transaction (red alert)</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Legitimate Transaction (green message)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Also shows </a:t>
            </a:r>
            <a:r>
              <a:rPr kumimoji="0" lang="en-US" altLang="en-US" sz="1800" b="1" i="0" u="none" strike="noStrike" cap="none" normalizeH="0" baseline="0" dirty="0">
                <a:ln>
                  <a:noFill/>
                </a:ln>
                <a:solidFill>
                  <a:schemeClr val="tx1"/>
                </a:solidFill>
                <a:effectLst/>
                <a:latin typeface="Arial" panose="020B0604020202020204" pitchFamily="34" charset="0"/>
              </a:rPr>
              <a:t>fraud probability score</a:t>
            </a:r>
            <a:r>
              <a:rPr kumimoji="0" lang="en-US" altLang="en-US" sz="1800" b="0" i="0" u="none" strike="noStrike" cap="none" normalizeH="0" baseline="0" dirty="0">
                <a:ln>
                  <a:noFill/>
                </a:ln>
                <a:solidFill>
                  <a:schemeClr val="tx1"/>
                </a:solidFill>
                <a:effectLst/>
                <a:latin typeface="Arial" panose="020B0604020202020204" pitchFamily="34" charset="0"/>
              </a:rPr>
              <a:t> when available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Debugging Mode</a:t>
            </a:r>
            <a:r>
              <a:rPr kumimoji="0" lang="en-US" altLang="en-US" sz="1800" b="0" i="0" u="none" strike="noStrike" cap="none" normalizeH="0" baseline="0" dirty="0">
                <a:ln>
                  <a:noFill/>
                </a:ln>
                <a:solidFill>
                  <a:schemeClr val="tx1"/>
                </a:solidFill>
                <a:effectLst/>
                <a:latin typeface="Arial" panose="020B0604020202020204" pitchFamily="34" charset="0"/>
              </a:rPr>
              <a:t>: Option to expand and view the exact feature values sent to the model for transparency.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6609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DAACA82-46AE-43F7-8980-A3AF42697433}"/>
              </a:ext>
            </a:extLst>
          </p:cNvPr>
          <p:cNvPicPr>
            <a:picLocks noChangeAspect="1"/>
          </p:cNvPicPr>
          <p:nvPr/>
        </p:nvPicPr>
        <p:blipFill>
          <a:blip r:embed="rId2"/>
          <a:stretch>
            <a:fillRect/>
          </a:stretch>
        </p:blipFill>
        <p:spPr>
          <a:xfrm>
            <a:off x="209246" y="612774"/>
            <a:ext cx="6058204" cy="5215323"/>
          </a:xfrm>
          <a:prstGeom prst="rect">
            <a:avLst/>
          </a:prstGeom>
        </p:spPr>
      </p:pic>
      <p:sp>
        <p:nvSpPr>
          <p:cNvPr id="2" name="Title 1">
            <a:extLst>
              <a:ext uri="{FF2B5EF4-FFF2-40B4-BE49-F238E27FC236}">
                <a16:creationId xmlns:a16="http://schemas.microsoft.com/office/drawing/2014/main" id="{0AE33137-40B5-4570-89E1-7978A9DFB615}"/>
              </a:ext>
            </a:extLst>
          </p:cNvPr>
          <p:cNvSpPr>
            <a:spLocks noGrp="1"/>
          </p:cNvSpPr>
          <p:nvPr>
            <p:ph type="title"/>
          </p:nvPr>
        </p:nvSpPr>
        <p:spPr>
          <a:xfrm>
            <a:off x="850333" y="-1"/>
            <a:ext cx="10834234" cy="612775"/>
          </a:xfrm>
        </p:spPr>
        <p:txBody>
          <a:bodyPr/>
          <a:lstStyle/>
          <a:p>
            <a:pPr algn="ctr"/>
            <a:r>
              <a:rPr lang="en-GB" dirty="0"/>
              <a:t>Model Deployment</a:t>
            </a:r>
            <a:endParaRPr lang="en-IN" dirty="0"/>
          </a:p>
        </p:txBody>
      </p:sp>
      <p:pic>
        <p:nvPicPr>
          <p:cNvPr id="5" name="Picture 4">
            <a:extLst>
              <a:ext uri="{FF2B5EF4-FFF2-40B4-BE49-F238E27FC236}">
                <a16:creationId xmlns:a16="http://schemas.microsoft.com/office/drawing/2014/main" id="{3C894030-5615-4B50-A4BC-E78E01194C51}"/>
              </a:ext>
            </a:extLst>
          </p:cNvPr>
          <p:cNvPicPr>
            <a:picLocks noChangeAspect="1"/>
          </p:cNvPicPr>
          <p:nvPr/>
        </p:nvPicPr>
        <p:blipFill>
          <a:blip r:embed="rId3"/>
          <a:stretch>
            <a:fillRect/>
          </a:stretch>
        </p:blipFill>
        <p:spPr>
          <a:xfrm>
            <a:off x="6819900" y="612775"/>
            <a:ext cx="4524375" cy="5215323"/>
          </a:xfrm>
          <a:prstGeom prst="rect">
            <a:avLst/>
          </a:prstGeom>
        </p:spPr>
      </p:pic>
    </p:spTree>
    <p:extLst>
      <p:ext uri="{BB962C8B-B14F-4D97-AF65-F5344CB8AC3E}">
        <p14:creationId xmlns:p14="http://schemas.microsoft.com/office/powerpoint/2010/main" val="3930676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AA0EC-9646-4F12-870B-D0019CEEA9B3}"/>
              </a:ext>
            </a:extLst>
          </p:cNvPr>
          <p:cNvSpPr>
            <a:spLocks noGrp="1"/>
          </p:cNvSpPr>
          <p:nvPr>
            <p:ph type="title"/>
          </p:nvPr>
        </p:nvSpPr>
        <p:spPr>
          <a:xfrm>
            <a:off x="88333" y="70266"/>
            <a:ext cx="4321741" cy="415509"/>
          </a:xfrm>
        </p:spPr>
        <p:txBody>
          <a:bodyPr>
            <a:normAutofit fontScale="90000"/>
          </a:bodyPr>
          <a:lstStyle/>
          <a:p>
            <a:r>
              <a:rPr lang="en-IN" sz="2800" u="sng" dirty="0"/>
              <a:t>Answering Business Questions:</a:t>
            </a:r>
          </a:p>
        </p:txBody>
      </p:sp>
      <p:sp>
        <p:nvSpPr>
          <p:cNvPr id="4" name="TextBox 3">
            <a:extLst>
              <a:ext uri="{FF2B5EF4-FFF2-40B4-BE49-F238E27FC236}">
                <a16:creationId xmlns:a16="http://schemas.microsoft.com/office/drawing/2014/main" id="{CFE2941B-DCD9-4020-A336-CED3C6472F68}"/>
              </a:ext>
            </a:extLst>
          </p:cNvPr>
          <p:cNvSpPr txBox="1"/>
          <p:nvPr/>
        </p:nvSpPr>
        <p:spPr>
          <a:xfrm>
            <a:off x="167992" y="581025"/>
            <a:ext cx="11856016" cy="5632311"/>
          </a:xfrm>
          <a:prstGeom prst="rect">
            <a:avLst/>
          </a:prstGeom>
          <a:noFill/>
        </p:spPr>
        <p:txBody>
          <a:bodyPr wrap="square" rtlCol="0">
            <a:spAutoFit/>
          </a:bodyPr>
          <a:lstStyle/>
          <a:p>
            <a:r>
              <a:rPr lang="en-GB" sz="2400" b="1" dirty="0"/>
              <a:t>Q. What is the model's precision and accuracy in detecting fraudulent transactions?</a:t>
            </a:r>
          </a:p>
          <a:p>
            <a:r>
              <a:rPr lang="en-GB" sz="2000" b="1" dirty="0"/>
              <a:t>&gt;&gt;</a:t>
            </a:r>
            <a:r>
              <a:rPr lang="en-GB" sz="2000" dirty="0"/>
              <a:t>The </a:t>
            </a:r>
            <a:r>
              <a:rPr lang="en-GB" sz="2000" dirty="0" err="1"/>
              <a:t>XGBoost</a:t>
            </a:r>
            <a:r>
              <a:rPr lang="en-GB" sz="2000" dirty="0"/>
              <a:t> model achieved near-perfect performance, with a precision of 1.0 for fraudulent transactions, meaning that every transaction identified as fraud by the model was truly fraudulent. Its recall was around 99.5%, ensuring that almost all fraudulent cases were successfully detected. While overall accuracy was also very high, it is less meaningful in an imbalanced dataset. Instead, the combination of perfect precision, very high recall, and an ROC-AUC score of 1.0 demonstrates that the model is exceptionally accurate in distinguishing fraudulent from legitimate transactions.</a:t>
            </a:r>
          </a:p>
          <a:p>
            <a:endParaRPr lang="en-GB" sz="2000" b="1" dirty="0"/>
          </a:p>
          <a:p>
            <a:r>
              <a:rPr lang="en-GB" sz="2800" b="1" dirty="0"/>
              <a:t>Q. </a:t>
            </a:r>
            <a:r>
              <a:rPr lang="en-GB" sz="2400" b="1" dirty="0"/>
              <a:t>How reliable is the model in classifying transactions as legitimate or fraudulent? </a:t>
            </a:r>
          </a:p>
          <a:p>
            <a:r>
              <a:rPr lang="en-GB" sz="2400" b="1" dirty="0"/>
              <a:t>&gt;&gt;</a:t>
            </a:r>
            <a:r>
              <a:rPr lang="en-GB" sz="2400" dirty="0"/>
              <a:t>The model is highly reliable because it not only identifies fraudulent cases with almost complete accuracy but also avoids wrongly flagging legitimate transactions. Precision of 1.0 guarantees that legitimate customers are not unnecessarily disrupted, while a recall close to 100% ensures that nearly all fraud attempts are caught. This balance of detecting fraud without generating false alarms makes the model dependable and suitable for deployment in a real-world financial environment.</a:t>
            </a:r>
            <a:endParaRPr lang="en-GB" sz="2400" b="1" dirty="0"/>
          </a:p>
          <a:p>
            <a:r>
              <a:rPr lang="en-GB" sz="2400" b="1" dirty="0"/>
              <a:t> </a:t>
            </a:r>
          </a:p>
        </p:txBody>
      </p:sp>
    </p:spTree>
    <p:extLst>
      <p:ext uri="{BB962C8B-B14F-4D97-AF65-F5344CB8AC3E}">
        <p14:creationId xmlns:p14="http://schemas.microsoft.com/office/powerpoint/2010/main" val="2238003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F73D5-4CDA-490A-B15E-2B4C3D4C4A8B}"/>
              </a:ext>
            </a:extLst>
          </p:cNvPr>
          <p:cNvSpPr>
            <a:spLocks noGrp="1"/>
          </p:cNvSpPr>
          <p:nvPr>
            <p:ph type="title"/>
          </p:nvPr>
        </p:nvSpPr>
        <p:spPr>
          <a:xfrm>
            <a:off x="0" y="-66675"/>
            <a:ext cx="10834234" cy="612775"/>
          </a:xfrm>
        </p:spPr>
        <p:txBody>
          <a:bodyPr>
            <a:normAutofit/>
          </a:bodyPr>
          <a:lstStyle/>
          <a:p>
            <a:r>
              <a:rPr lang="en-IN" sz="2500" u="sng" dirty="0"/>
              <a:t>Answering Business Questions:</a:t>
            </a:r>
            <a:endParaRPr lang="en-IN" sz="2500" dirty="0"/>
          </a:p>
        </p:txBody>
      </p:sp>
      <p:sp>
        <p:nvSpPr>
          <p:cNvPr id="4" name="TextBox 3">
            <a:extLst>
              <a:ext uri="{FF2B5EF4-FFF2-40B4-BE49-F238E27FC236}">
                <a16:creationId xmlns:a16="http://schemas.microsoft.com/office/drawing/2014/main" id="{97AEA209-253B-47B0-9B7D-7E2DC968D241}"/>
              </a:ext>
            </a:extLst>
          </p:cNvPr>
          <p:cNvSpPr txBox="1"/>
          <p:nvPr/>
        </p:nvSpPr>
        <p:spPr>
          <a:xfrm>
            <a:off x="0" y="628650"/>
            <a:ext cx="11134725" cy="2123658"/>
          </a:xfrm>
          <a:prstGeom prst="rect">
            <a:avLst/>
          </a:prstGeom>
          <a:noFill/>
        </p:spPr>
        <p:txBody>
          <a:bodyPr wrap="square" rtlCol="0">
            <a:spAutoFit/>
          </a:bodyPr>
          <a:lstStyle/>
          <a:p>
            <a:r>
              <a:rPr lang="en-GB" sz="2400" b="1" dirty="0"/>
              <a:t>Q. What are the potential losses due to model errors? </a:t>
            </a:r>
          </a:p>
          <a:p>
            <a:endParaRPr lang="en-GB" dirty="0"/>
          </a:p>
          <a:p>
            <a:r>
              <a:rPr lang="en-GB" dirty="0"/>
              <a:t>&gt;</a:t>
            </a:r>
            <a:r>
              <a:rPr lang="en-IN" dirty="0"/>
              <a:t>&gt;</a:t>
            </a:r>
            <a:r>
              <a:rPr lang="en-GB" dirty="0"/>
              <a:t>The main source of potential loss comes from false negatives, which are the rare fraud cases the model fails to identify. In this project, that risk is minimal—only about 0.44% of fraudulent transactions may be missed, and these directly translate into financial losses if they go undetected. False positives, on the other hand, are practically eliminated since the model never misclassifies legitimate transactions as fraud, thanks to its perfect precision. This not only reduces operational costs but also ensures customer trust is maintained.</a:t>
            </a:r>
            <a:endParaRPr lang="en-IN" dirty="0"/>
          </a:p>
        </p:txBody>
      </p:sp>
    </p:spTree>
    <p:extLst>
      <p:ext uri="{BB962C8B-B14F-4D97-AF65-F5344CB8AC3E}">
        <p14:creationId xmlns:p14="http://schemas.microsoft.com/office/powerpoint/2010/main" val="804435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A9298-73D1-4DED-9B52-F5B062F9272B}"/>
              </a:ext>
            </a:extLst>
          </p:cNvPr>
          <p:cNvSpPr>
            <a:spLocks noGrp="1"/>
          </p:cNvSpPr>
          <p:nvPr>
            <p:ph type="title"/>
          </p:nvPr>
        </p:nvSpPr>
        <p:spPr>
          <a:xfrm>
            <a:off x="678883" y="0"/>
            <a:ext cx="10834234" cy="612775"/>
          </a:xfrm>
        </p:spPr>
        <p:txBody>
          <a:bodyPr>
            <a:normAutofit/>
          </a:bodyPr>
          <a:lstStyle/>
          <a:p>
            <a:pPr algn="ctr"/>
            <a:r>
              <a:rPr lang="en-GB" sz="2800" i="1" u="sng" dirty="0"/>
              <a:t>Conclusions &amp; Key Features:</a:t>
            </a:r>
            <a:endParaRPr lang="en-IN" sz="2800" i="1" u="sng" dirty="0"/>
          </a:p>
        </p:txBody>
      </p:sp>
      <p:sp>
        <p:nvSpPr>
          <p:cNvPr id="3" name="Content Placeholder 2">
            <a:extLst>
              <a:ext uri="{FF2B5EF4-FFF2-40B4-BE49-F238E27FC236}">
                <a16:creationId xmlns:a16="http://schemas.microsoft.com/office/drawing/2014/main" id="{AB52D774-22B2-49F6-9581-69D757098853}"/>
              </a:ext>
            </a:extLst>
          </p:cNvPr>
          <p:cNvSpPr>
            <a:spLocks noGrp="1"/>
          </p:cNvSpPr>
          <p:nvPr>
            <p:ph idx="1"/>
          </p:nvPr>
        </p:nvSpPr>
        <p:spPr>
          <a:xfrm>
            <a:off x="0" y="522550"/>
            <a:ext cx="10834234" cy="2782625"/>
          </a:xfrm>
        </p:spPr>
        <p:txBody>
          <a:bodyPr>
            <a:normAutofit lnSpcReduction="10000"/>
          </a:bodyPr>
          <a:lstStyle/>
          <a:p>
            <a:pPr marL="0" indent="0">
              <a:buNone/>
            </a:pPr>
            <a:r>
              <a:rPr lang="en-GB" sz="2000" dirty="0"/>
              <a:t>This project successfully developed a machine learning–based fraud detection system for mobile financial transactions. Through systematic </a:t>
            </a:r>
            <a:r>
              <a:rPr lang="en-GB" sz="2000" b="1" dirty="0"/>
              <a:t>EDA, feature engineering, model selection, and evaluation</a:t>
            </a:r>
            <a:r>
              <a:rPr lang="en-GB" sz="2000" dirty="0"/>
              <a:t>, the project demonstrated that advanced ensemble models (Random Forest, </a:t>
            </a:r>
            <a:r>
              <a:rPr lang="en-GB" sz="2000" dirty="0" err="1"/>
              <a:t>XGBoost</a:t>
            </a:r>
            <a:r>
              <a:rPr lang="en-GB" sz="2000" dirty="0"/>
              <a:t>, </a:t>
            </a:r>
            <a:r>
              <a:rPr lang="en-GB" sz="2000" dirty="0" err="1"/>
              <a:t>LightGBM</a:t>
            </a:r>
            <a:r>
              <a:rPr lang="en-GB" sz="2000" dirty="0"/>
              <a:t>) significantly outperform baseline methods.</a:t>
            </a:r>
          </a:p>
          <a:p>
            <a:pPr marL="0" indent="0">
              <a:buNone/>
            </a:pPr>
            <a:r>
              <a:rPr lang="en-GB" sz="2000" dirty="0"/>
              <a:t>The final tuned model achieved </a:t>
            </a:r>
            <a:r>
              <a:rPr lang="en-GB" sz="2000" b="1" dirty="0"/>
              <a:t>high ROC-AUC and recall scores</a:t>
            </a:r>
            <a:r>
              <a:rPr lang="en-GB" sz="2000" dirty="0"/>
              <a:t>, ensuring strong capability in detecting fraud while reducing false positives. Financial impact analysis showed the model’s potential to </a:t>
            </a:r>
            <a:r>
              <a:rPr lang="en-GB" sz="2000" b="1" dirty="0"/>
              <a:t>minimize business losses and investigation costs</a:t>
            </a:r>
            <a:r>
              <a:rPr lang="en-GB" sz="2000" dirty="0"/>
              <a:t>.</a:t>
            </a:r>
          </a:p>
          <a:p>
            <a:pPr marL="0" indent="0">
              <a:buNone/>
            </a:pPr>
            <a:r>
              <a:rPr lang="en-GB" sz="2000" dirty="0"/>
              <a:t>Overall, the project provides a </a:t>
            </a:r>
            <a:r>
              <a:rPr lang="en-GB" sz="2000" b="1" dirty="0"/>
              <a:t>robust and production-ready fraud detection framework</a:t>
            </a:r>
            <a:r>
              <a:rPr lang="en-GB" sz="2000" dirty="0"/>
              <a:t> that can be integrated into real-time financial systems.</a:t>
            </a:r>
          </a:p>
          <a:p>
            <a:endParaRPr lang="en-IN" dirty="0"/>
          </a:p>
        </p:txBody>
      </p:sp>
      <p:sp>
        <p:nvSpPr>
          <p:cNvPr id="4" name="TextBox 3">
            <a:extLst>
              <a:ext uri="{FF2B5EF4-FFF2-40B4-BE49-F238E27FC236}">
                <a16:creationId xmlns:a16="http://schemas.microsoft.com/office/drawing/2014/main" id="{D1644A21-F2FB-4539-A282-97DDD2E3C9AD}"/>
              </a:ext>
            </a:extLst>
          </p:cNvPr>
          <p:cNvSpPr txBox="1"/>
          <p:nvPr/>
        </p:nvSpPr>
        <p:spPr>
          <a:xfrm>
            <a:off x="0" y="3009900"/>
            <a:ext cx="8963025" cy="3693319"/>
          </a:xfrm>
          <a:prstGeom prst="rect">
            <a:avLst/>
          </a:prstGeom>
          <a:noFill/>
        </p:spPr>
        <p:txBody>
          <a:bodyPr wrap="square" rtlCol="0">
            <a:spAutoFit/>
          </a:bodyPr>
          <a:lstStyle/>
          <a:p>
            <a:r>
              <a:rPr lang="en-GB" b="1" u="sng" dirty="0"/>
              <a:t>Key Features:</a:t>
            </a:r>
            <a:endParaRPr lang="en-IN" b="1" u="sng" dirty="0"/>
          </a:p>
          <a:p>
            <a:pPr marL="285750" indent="-285750">
              <a:buFont typeface="Wingdings" panose="05000000000000000000" pitchFamily="2" charset="2"/>
              <a:buChar char="§"/>
            </a:pPr>
            <a:r>
              <a:rPr lang="en-IN" dirty="0"/>
              <a:t>Comprehensive </a:t>
            </a:r>
            <a:r>
              <a:rPr lang="en-IN" b="1" dirty="0"/>
              <a:t>EDA</a:t>
            </a:r>
            <a:r>
              <a:rPr lang="en-IN" dirty="0"/>
              <a:t> revealing fraud patterns across transaction types, amounts, and balances.</a:t>
            </a:r>
          </a:p>
          <a:p>
            <a:pPr marL="285750" indent="-285750">
              <a:buFont typeface="Wingdings" panose="05000000000000000000" pitchFamily="2" charset="2"/>
              <a:buChar char="§"/>
            </a:pPr>
            <a:r>
              <a:rPr lang="en-IN" dirty="0"/>
              <a:t>Effective </a:t>
            </a:r>
            <a:r>
              <a:rPr lang="en-IN" b="1" dirty="0"/>
              <a:t>feature engineering</a:t>
            </a:r>
            <a:r>
              <a:rPr lang="en-IN" dirty="0"/>
              <a:t>, including balance error detection, transaction flags, and time features.</a:t>
            </a:r>
          </a:p>
          <a:p>
            <a:pPr marL="285750" indent="-285750">
              <a:buFont typeface="Wingdings" panose="05000000000000000000" pitchFamily="2" charset="2"/>
              <a:buChar char="§"/>
            </a:pPr>
            <a:r>
              <a:rPr lang="en-IN" dirty="0"/>
              <a:t>Evaluation of </a:t>
            </a:r>
            <a:r>
              <a:rPr lang="en-IN" b="1" dirty="0"/>
              <a:t>multiple ML algorithms</a:t>
            </a:r>
            <a:r>
              <a:rPr lang="en-IN" dirty="0"/>
              <a:t> (Logistic Regression, Decision Tree, Random Forest, </a:t>
            </a:r>
            <a:r>
              <a:rPr lang="en-IN" dirty="0" err="1"/>
              <a:t>XGBoost</a:t>
            </a:r>
            <a:r>
              <a:rPr lang="en-IN" dirty="0"/>
              <a:t>, </a:t>
            </a:r>
            <a:r>
              <a:rPr lang="en-IN" dirty="0" err="1"/>
              <a:t>LightGBM</a:t>
            </a:r>
            <a:r>
              <a:rPr lang="en-IN" dirty="0"/>
              <a:t>, SVM).</a:t>
            </a:r>
          </a:p>
          <a:p>
            <a:pPr marL="285750" indent="-285750">
              <a:buFont typeface="Wingdings" panose="05000000000000000000" pitchFamily="2" charset="2"/>
              <a:buChar char="§"/>
            </a:pPr>
            <a:r>
              <a:rPr lang="en-IN" b="1" dirty="0"/>
              <a:t>Hyperparameter tuning</a:t>
            </a:r>
            <a:r>
              <a:rPr lang="en-IN" dirty="0"/>
              <a:t> to optimize model performance.</a:t>
            </a:r>
          </a:p>
          <a:p>
            <a:pPr marL="285750" indent="-285750">
              <a:buFont typeface="Wingdings" panose="05000000000000000000" pitchFamily="2" charset="2"/>
              <a:buChar char="§"/>
            </a:pPr>
            <a:r>
              <a:rPr lang="en-IN" b="1" dirty="0"/>
              <a:t>Financial impact analysis</a:t>
            </a:r>
            <a:r>
              <a:rPr lang="en-IN" dirty="0"/>
              <a:t> estimating costs of false positives and false negatives.</a:t>
            </a:r>
          </a:p>
          <a:p>
            <a:pPr marL="285750" indent="-285750">
              <a:buFont typeface="Wingdings" panose="05000000000000000000" pitchFamily="2" charset="2"/>
              <a:buChar char="§"/>
            </a:pPr>
            <a:r>
              <a:rPr lang="en-IN" b="1" dirty="0"/>
              <a:t>Model </a:t>
            </a:r>
            <a:r>
              <a:rPr lang="en-IN" b="1" dirty="0" err="1"/>
              <a:t>explainability</a:t>
            </a:r>
            <a:r>
              <a:rPr lang="en-IN" dirty="0"/>
              <a:t> using feature importance, permutation importance, and SHAP values.</a:t>
            </a:r>
          </a:p>
          <a:p>
            <a:pPr marL="285750" indent="-285750">
              <a:buFont typeface="Wingdings" panose="05000000000000000000" pitchFamily="2" charset="2"/>
              <a:buChar char="§"/>
            </a:pPr>
            <a:r>
              <a:rPr lang="en-IN" dirty="0"/>
              <a:t>A </a:t>
            </a:r>
            <a:r>
              <a:rPr lang="en-IN" b="1" dirty="0"/>
              <a:t>production-ready pipeline</a:t>
            </a:r>
            <a:r>
              <a:rPr lang="en-IN" dirty="0"/>
              <a:t>, with saved models and scaler for deployment.</a:t>
            </a:r>
          </a:p>
          <a:p>
            <a:pPr marL="285750" indent="-285750">
              <a:buFont typeface="Wingdings" panose="05000000000000000000" pitchFamily="2" charset="2"/>
              <a:buChar char="§"/>
            </a:pPr>
            <a:r>
              <a:rPr lang="en-IN" dirty="0"/>
              <a:t>Support for </a:t>
            </a:r>
            <a:r>
              <a:rPr lang="en-IN" b="1" dirty="0"/>
              <a:t>Power BI dashboards</a:t>
            </a:r>
            <a:r>
              <a:rPr lang="en-IN" dirty="0"/>
              <a:t> to visualize fraud patterns and model outcomes.</a:t>
            </a:r>
          </a:p>
          <a:p>
            <a:endParaRPr lang="en-IN" dirty="0"/>
          </a:p>
        </p:txBody>
      </p:sp>
    </p:spTree>
    <p:extLst>
      <p:ext uri="{BB962C8B-B14F-4D97-AF65-F5344CB8AC3E}">
        <p14:creationId xmlns:p14="http://schemas.microsoft.com/office/powerpoint/2010/main" val="3842883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7327</TotalTime>
  <Words>1948</Words>
  <Application>Microsoft Office PowerPoint</Application>
  <PresentationFormat>Widescreen</PresentationFormat>
  <Paragraphs>183</Paragraphs>
  <Slides>20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Arial Unicode MS</vt:lpstr>
      <vt:lpstr>Bahnschrift SemiCondensed</vt:lpstr>
      <vt:lpstr>Calibri</vt:lpstr>
      <vt:lpstr>Courier New</vt:lpstr>
      <vt:lpstr>Wingdings</vt:lpstr>
      <vt:lpstr>BIA Template</vt:lpstr>
      <vt:lpstr>PowerPoint Presentation</vt:lpstr>
      <vt:lpstr>PowerPoint Presentation</vt:lpstr>
      <vt:lpstr>FRAUD TRENDS IN INDIA</vt:lpstr>
      <vt:lpstr>AGENDA</vt:lpstr>
      <vt:lpstr>PowerPoint Presentation</vt:lpstr>
      <vt:lpstr>Problem Statement</vt:lpstr>
      <vt:lpstr>Data Understanding &amp; Exploratory Data Analysis (EDA)</vt:lpstr>
      <vt:lpstr>Important Graphs &amp; Plots</vt:lpstr>
      <vt:lpstr>Fraud Cases Over Time</vt:lpstr>
      <vt:lpstr>Correlation Matrix Plot</vt:lpstr>
      <vt:lpstr>Feature Engineering</vt:lpstr>
      <vt:lpstr>Model Selection &amp; Training</vt:lpstr>
      <vt:lpstr>Model Performance Evaluation Using ROC-AUC, Precision, Recall &amp; F1-score</vt:lpstr>
      <vt:lpstr>Model Selection</vt:lpstr>
      <vt:lpstr>Model Deployment</vt:lpstr>
      <vt:lpstr>Model Deployment</vt:lpstr>
      <vt:lpstr>Answering Business Questions:</vt:lpstr>
      <vt:lpstr>Answering Business Questions:</vt:lpstr>
      <vt:lpstr>Conclusions &amp; Key Features: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Krishna Sharma</cp:lastModifiedBy>
  <cp:revision>2286</cp:revision>
  <dcterms:created xsi:type="dcterms:W3CDTF">2020-12-23T13:36:00Z</dcterms:created>
  <dcterms:modified xsi:type="dcterms:W3CDTF">2025-08-23T09:55:54Z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